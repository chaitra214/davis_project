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 id="260" r:id="rId5"/>
    <p:sldId id="262" r:id="rId6"/>
    <p:sldId id="263" r:id="rId7"/>
    <p:sldId id="276" r:id="rId8"/>
    <p:sldId id="277" r:id="rId9"/>
    <p:sldId id="266" r:id="rId10"/>
    <p:sldId id="278" r:id="rId11"/>
    <p:sldId id="279" r:id="rId12"/>
    <p:sldId id="280" r:id="rId13"/>
    <p:sldId id="270" r:id="rId14"/>
    <p:sldId id="281" r:id="rId15"/>
    <p:sldId id="267" r:id="rId16"/>
    <p:sldId id="282" r:id="rId17"/>
    <p:sldId id="283" r:id="rId18"/>
    <p:sldId id="284" r:id="rId19"/>
    <p:sldId id="285" r:id="rId20"/>
    <p:sldId id="271" r:id="rId21"/>
    <p:sldId id="287" r:id="rId22"/>
    <p:sldId id="288" r:id="rId23"/>
    <p:sldId id="272" r:id="rId24"/>
    <p:sldId id="289" r:id="rId25"/>
    <p:sldId id="290" r:id="rId26"/>
    <p:sldId id="291" r:id="rId27"/>
    <p:sldId id="292" r:id="rId28"/>
    <p:sldId id="293" r:id="rId29"/>
    <p:sldId id="294" r:id="rId30"/>
    <p:sldId id="295" r:id="rId31"/>
    <p:sldId id="27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90EA1-415A-40BB-A79E-8829F47E1A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A9CC4FA-4EAF-42A3-9315-942805400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9B6D0F6-3AB9-4183-AB39-53CBAF15C786}"/>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5" name="Footer Placeholder 4">
            <a:extLst>
              <a:ext uri="{FF2B5EF4-FFF2-40B4-BE49-F238E27FC236}">
                <a16:creationId xmlns:a16="http://schemas.microsoft.com/office/drawing/2014/main" id="{4FB491AA-4B24-4A72-8FFB-E2FEF70417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682B3A-C7D1-4C4D-9379-DB0CA5CC26B1}"/>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774240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A93F6-709E-4DAA-AEF8-4EE7524FD9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C4D2A9F-3240-4780-ADEE-ECFBC109268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80E238-5D81-474C-97C3-A7E7C2A1B918}"/>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5" name="Footer Placeholder 4">
            <a:extLst>
              <a:ext uri="{FF2B5EF4-FFF2-40B4-BE49-F238E27FC236}">
                <a16:creationId xmlns:a16="http://schemas.microsoft.com/office/drawing/2014/main" id="{128EFBD0-550C-49DC-8273-5A38318F29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6996EA-3262-4F8D-8D66-BAD3FD2A89FD}"/>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2409521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335DF-917B-4E5C-82DD-1ECF1B01BC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34CCE1-2640-4494-BEA9-ECA91EBFD6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31FF0A3-3A88-4082-9640-C972977EF10F}"/>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5" name="Footer Placeholder 4">
            <a:extLst>
              <a:ext uri="{FF2B5EF4-FFF2-40B4-BE49-F238E27FC236}">
                <a16:creationId xmlns:a16="http://schemas.microsoft.com/office/drawing/2014/main" id="{10E94005-46E2-4541-B752-BF14B831F4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A47F22-D1ED-4203-A830-3889CD416761}"/>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2315111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378A1-E45C-4DD5-B89F-D2E003DFA0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60481C-22EC-479C-AAE5-E2E7808E614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D370EA-9C29-4CE3-B34D-33FC1CF0C80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7E09D91-210F-45CA-B79B-E068A15617B2}"/>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6" name="Footer Placeholder 5">
            <a:extLst>
              <a:ext uri="{FF2B5EF4-FFF2-40B4-BE49-F238E27FC236}">
                <a16:creationId xmlns:a16="http://schemas.microsoft.com/office/drawing/2014/main" id="{EB67DFE6-15CE-494A-A53E-2E63A1C95F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C3F040-1914-4F9F-9F11-51BCFE319E18}"/>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525826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98B27-1530-4867-A935-738A9CEF43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58C3FD2-E5D9-48A3-8419-97F65D75C3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639DC0E-CBD1-46DF-AF60-D788A32CB56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0F60F0-F7E9-4E4A-9A01-7CF21B5FE8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431C140-A26B-4C8A-95C4-75D409AD054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119AF86-79FD-4600-93E2-E717DA0241F9}"/>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8" name="Footer Placeholder 7">
            <a:extLst>
              <a:ext uri="{FF2B5EF4-FFF2-40B4-BE49-F238E27FC236}">
                <a16:creationId xmlns:a16="http://schemas.microsoft.com/office/drawing/2014/main" id="{14D351EF-E2AB-45C2-AA97-AC7E4550348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FF735CA-6BCE-4106-B452-5268CC27CC23}"/>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1938524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D9259-18EB-4A2E-8CAB-ADD4448694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D4B93A9-4B33-470E-8001-5FEC38B74AE6}"/>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4" name="Footer Placeholder 3">
            <a:extLst>
              <a:ext uri="{FF2B5EF4-FFF2-40B4-BE49-F238E27FC236}">
                <a16:creationId xmlns:a16="http://schemas.microsoft.com/office/drawing/2014/main" id="{33712E25-B498-41BC-853D-881669CABB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E6C7461-77D6-4965-852E-DD2119A1CE31}"/>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39311548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2F229C-CCD8-45F1-9087-A5650B368A65}"/>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3" name="Footer Placeholder 2">
            <a:extLst>
              <a:ext uri="{FF2B5EF4-FFF2-40B4-BE49-F238E27FC236}">
                <a16:creationId xmlns:a16="http://schemas.microsoft.com/office/drawing/2014/main" id="{83A41DDE-4F3D-4CA7-9CAC-1AD1CDF074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FEA9C68-AEC5-4839-91D2-58C0B0B37AEA}"/>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2025376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E9D41-68F0-43B4-A1E8-BEE23FCA46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60E6DE7-4D42-4807-988A-B0447A9A94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FDE2753-C055-410E-B24D-0B18F678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3C8B0E-5375-4CDF-AC8F-B403B84F27B2}"/>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6" name="Footer Placeholder 5">
            <a:extLst>
              <a:ext uri="{FF2B5EF4-FFF2-40B4-BE49-F238E27FC236}">
                <a16:creationId xmlns:a16="http://schemas.microsoft.com/office/drawing/2014/main" id="{AA5C7C7B-8E47-4713-BF08-9432F8F6A8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1E0795-837D-425F-8699-F5A859BC8F74}"/>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1956591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795D6-3B9E-4C0C-A480-7422BED546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D3F5B5-5828-4815-8668-A402B475A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6927195-320B-42CB-8330-8C559C67E9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C823780-ADCE-49C3-8C42-B0D26431EC1E}"/>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6" name="Footer Placeholder 5">
            <a:extLst>
              <a:ext uri="{FF2B5EF4-FFF2-40B4-BE49-F238E27FC236}">
                <a16:creationId xmlns:a16="http://schemas.microsoft.com/office/drawing/2014/main" id="{E07850A7-FA90-47CD-93B5-A5671EB902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402B5E-F916-4D0C-9502-049FB75472AF}"/>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891985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8ED7E-BD53-4CFB-A4D5-1C1F591D032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437838-706B-4A1B-98DA-0AC26905513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6C56CA-05EC-4847-A69F-74FB50A8E96F}"/>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5" name="Footer Placeholder 4">
            <a:extLst>
              <a:ext uri="{FF2B5EF4-FFF2-40B4-BE49-F238E27FC236}">
                <a16:creationId xmlns:a16="http://schemas.microsoft.com/office/drawing/2014/main" id="{CAD5FBFD-D6CD-44C7-AA77-DB10ED25FA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7D55E5-FDAB-48E5-A223-1450A0AEBA9B}"/>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232368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BA772-A932-40A6-945C-BE2E36972E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3522C3-4D61-481D-A1B2-4EA4A57850D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D498B3-A4CF-4AB2-A110-C22EDC95E458}"/>
              </a:ext>
            </a:extLst>
          </p:cNvPr>
          <p:cNvSpPr>
            <a:spLocks noGrp="1"/>
          </p:cNvSpPr>
          <p:nvPr>
            <p:ph type="dt" sz="half" idx="10"/>
          </p:nvPr>
        </p:nvSpPr>
        <p:spPr/>
        <p:txBody>
          <a:bodyPr/>
          <a:lstStyle/>
          <a:p>
            <a:fld id="{01FFB31A-B3E4-4D8E-8820-88C4E59691B7}" type="datetimeFigureOut">
              <a:rPr lang="en-IN" smtClean="0"/>
              <a:t>02-05-2026</a:t>
            </a:fld>
            <a:endParaRPr lang="en-IN"/>
          </a:p>
        </p:txBody>
      </p:sp>
      <p:sp>
        <p:nvSpPr>
          <p:cNvPr id="5" name="Footer Placeholder 4">
            <a:extLst>
              <a:ext uri="{FF2B5EF4-FFF2-40B4-BE49-F238E27FC236}">
                <a16:creationId xmlns:a16="http://schemas.microsoft.com/office/drawing/2014/main" id="{F9A4012F-0FCC-4B16-90DD-95DEB6E86E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A980EF1-4143-4000-9190-27B3888E1052}"/>
              </a:ext>
            </a:extLst>
          </p:cNvPr>
          <p:cNvSpPr>
            <a:spLocks noGrp="1"/>
          </p:cNvSpPr>
          <p:nvPr>
            <p:ph type="sldNum" sz="quarter" idx="12"/>
          </p:nvPr>
        </p:nvSpPr>
        <p:spPr/>
        <p:txBody>
          <a:bodyPr/>
          <a:lstStyle/>
          <a:p>
            <a:fld id="{AC0D5064-B6D3-4117-8D91-C97AE15FABCC}" type="slidenum">
              <a:rPr lang="en-IN" smtClean="0"/>
              <a:t>‹#›</a:t>
            </a:fld>
            <a:endParaRPr lang="en-IN"/>
          </a:p>
        </p:txBody>
      </p:sp>
    </p:spTree>
    <p:extLst>
      <p:ext uri="{BB962C8B-B14F-4D97-AF65-F5344CB8AC3E}">
        <p14:creationId xmlns:p14="http://schemas.microsoft.com/office/powerpoint/2010/main" val="192423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98D8EC-1D72-4B60-8FA0-4BF548502E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F6BFB6F-8AEF-42B9-B3F8-F78F0B2709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2CEA18-0A08-4A72-9197-73ED14420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FFB31A-B3E4-4D8E-8820-88C4E59691B7}" type="datetimeFigureOut">
              <a:rPr lang="en-IN" smtClean="0"/>
              <a:t>02-05-2026</a:t>
            </a:fld>
            <a:endParaRPr lang="en-IN"/>
          </a:p>
        </p:txBody>
      </p:sp>
      <p:sp>
        <p:nvSpPr>
          <p:cNvPr id="5" name="Footer Placeholder 4">
            <a:extLst>
              <a:ext uri="{FF2B5EF4-FFF2-40B4-BE49-F238E27FC236}">
                <a16:creationId xmlns:a16="http://schemas.microsoft.com/office/drawing/2014/main" id="{CDC6B7A3-4C8A-410C-A979-3FDE988A75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7F6573A-3C04-4E8C-83B3-1531C519D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0D5064-B6D3-4117-8D91-C97AE15FABCC}" type="slidenum">
              <a:rPr lang="en-IN" smtClean="0"/>
              <a:t>‹#›</a:t>
            </a:fld>
            <a:endParaRPr lang="en-IN"/>
          </a:p>
        </p:txBody>
      </p:sp>
    </p:spTree>
    <p:extLst>
      <p:ext uri="{BB962C8B-B14F-4D97-AF65-F5344CB8AC3E}">
        <p14:creationId xmlns:p14="http://schemas.microsoft.com/office/powerpoint/2010/main" val="1822708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kaggle.com/"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pandas.pydata.org/"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0B70-2DE2-42EB-BD69-9335A1A390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469D15-5F15-4193-9EFE-8CF15B6874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96" t="1891" b="12057"/>
          <a:stretch/>
        </p:blipFill>
        <p:spPr>
          <a:xfrm>
            <a:off x="0" y="0"/>
            <a:ext cx="12192000" cy="6857999"/>
          </a:xfrm>
        </p:spPr>
      </p:pic>
      <p:sp>
        <p:nvSpPr>
          <p:cNvPr id="3" name="TextBox 2">
            <a:extLst>
              <a:ext uri="{FF2B5EF4-FFF2-40B4-BE49-F238E27FC236}">
                <a16:creationId xmlns:a16="http://schemas.microsoft.com/office/drawing/2014/main" id="{96822438-3D64-47AA-88AC-B83F783E022B}"/>
              </a:ext>
            </a:extLst>
          </p:cNvPr>
          <p:cNvSpPr txBox="1"/>
          <p:nvPr/>
        </p:nvSpPr>
        <p:spPr>
          <a:xfrm>
            <a:off x="0" y="365125"/>
            <a:ext cx="11839074" cy="5786199"/>
          </a:xfrm>
          <a:prstGeom prst="rect">
            <a:avLst/>
          </a:prstGeom>
          <a:noFill/>
        </p:spPr>
        <p:txBody>
          <a:bodyPr wrap="square" rtlCol="0">
            <a:spAutoFit/>
          </a:bodyPr>
          <a:lstStyle/>
          <a:p>
            <a:pPr algn="ctr"/>
            <a:endParaRPr lang="en-IN" b="1" dirty="0">
              <a:latin typeface="Algerian" panose="04020705040A02060702" pitchFamily="82" charset="0"/>
            </a:endParaRPr>
          </a:p>
          <a:p>
            <a:pPr algn="ctr"/>
            <a:r>
              <a:rPr lang="en-US" sz="3600" b="1" dirty="0">
                <a:latin typeface="Arial Black" pitchFamily="34" charset="0"/>
              </a:rPr>
              <a:t>DATA ANALYTICS / DATA VISUALISATION INTERNSHIP PROJECT</a:t>
            </a:r>
            <a:endParaRPr lang="en-US" sz="2800" b="1" dirty="0">
              <a:latin typeface="Algerian" panose="04020705040A02060702" pitchFamily="82" charset="0"/>
            </a:endParaRPr>
          </a:p>
          <a:p>
            <a:pPr algn="ctr"/>
            <a:endParaRPr lang="en-IN" sz="2800" b="1" dirty="0">
              <a:latin typeface="Algerian" panose="04020705040A02060702" pitchFamily="82" charset="0"/>
            </a:endParaRPr>
          </a:p>
          <a:p>
            <a:pPr algn="ctr"/>
            <a:r>
              <a:rPr lang="en-IN" sz="2800" b="1" dirty="0">
                <a:solidFill>
                  <a:srgbClr val="92D050"/>
                </a:solidFill>
                <a:latin typeface="Algerian" panose="04020705040A02060702" pitchFamily="82" charset="0"/>
              </a:rPr>
              <a:t>Airfare Forecasting: Predicting Flight Ticket Prices </a:t>
            </a:r>
          </a:p>
          <a:p>
            <a:pPr algn="ctr"/>
            <a:endParaRPr lang="en-US" sz="2800" b="1" dirty="0"/>
          </a:p>
          <a:p>
            <a:r>
              <a:rPr lang="en-US" sz="2800" b="1" dirty="0"/>
              <a:t>Student Name(s): </a:t>
            </a:r>
            <a:r>
              <a:rPr lang="en-US" sz="2800" b="1" dirty="0" err="1"/>
              <a:t>Kruthika</a:t>
            </a:r>
            <a:r>
              <a:rPr lang="en-US" sz="2800" b="1" dirty="0"/>
              <a:t> S R</a:t>
            </a:r>
          </a:p>
          <a:p>
            <a:r>
              <a:rPr lang="en-US" sz="2800" b="1" dirty="0"/>
              <a:t>                                    M </a:t>
            </a:r>
            <a:r>
              <a:rPr lang="en-US" sz="2800" b="1" dirty="0" err="1"/>
              <a:t>Chaitra</a:t>
            </a:r>
            <a:endParaRPr lang="en-US" sz="2800" b="1" dirty="0"/>
          </a:p>
          <a:p>
            <a:r>
              <a:rPr lang="en-US" sz="2800" b="1" dirty="0"/>
              <a:t>AFID: </a:t>
            </a:r>
            <a:r>
              <a:rPr lang="en-US" sz="2800" dirty="0"/>
              <a:t>AF05060907, AF05096869</a:t>
            </a:r>
          </a:p>
          <a:p>
            <a:r>
              <a:rPr lang="en-US" sz="2800" b="1" dirty="0"/>
              <a:t>Institute:</a:t>
            </a:r>
            <a:r>
              <a:rPr lang="en-US" sz="2800" dirty="0"/>
              <a:t> </a:t>
            </a:r>
            <a:r>
              <a:rPr lang="en-US" sz="2800" dirty="0" err="1"/>
              <a:t>Sai</a:t>
            </a:r>
            <a:r>
              <a:rPr lang="en-US" sz="2800" dirty="0"/>
              <a:t> </a:t>
            </a:r>
            <a:r>
              <a:rPr lang="en-US" sz="2800" dirty="0" err="1"/>
              <a:t>Vidya</a:t>
            </a:r>
            <a:r>
              <a:rPr lang="en-US" sz="2800" dirty="0"/>
              <a:t> Institute of Technology</a:t>
            </a:r>
          </a:p>
          <a:p>
            <a:r>
              <a:rPr lang="en-US" sz="2800" b="1" dirty="0"/>
              <a:t>Guide / Mentor:</a:t>
            </a:r>
            <a:r>
              <a:rPr lang="en-IN" sz="2800" dirty="0"/>
              <a:t> </a:t>
            </a:r>
            <a:r>
              <a:rPr lang="en-IN" sz="2800" dirty="0" err="1"/>
              <a:t>Shruti</a:t>
            </a:r>
            <a:r>
              <a:rPr lang="en-IN" sz="2800" dirty="0"/>
              <a:t> </a:t>
            </a:r>
            <a:r>
              <a:rPr lang="en-IN" sz="2800" dirty="0" err="1"/>
              <a:t>Sengupta</a:t>
            </a:r>
            <a:endParaRPr lang="en-US" sz="2800" b="1" dirty="0"/>
          </a:p>
          <a:p>
            <a:r>
              <a:rPr lang="en-US" sz="2800" b="1" dirty="0"/>
              <a:t>Organization: </a:t>
            </a:r>
            <a:r>
              <a:rPr lang="en-US" sz="2800" dirty="0" err="1"/>
              <a:t>Anudip</a:t>
            </a:r>
            <a:r>
              <a:rPr lang="en-US" sz="2800" dirty="0"/>
              <a:t> Foundation</a:t>
            </a:r>
          </a:p>
          <a:p>
            <a:r>
              <a:rPr lang="en-US" sz="2800" b="1" dirty="0"/>
              <a:t>Academic Year: </a:t>
            </a:r>
            <a:r>
              <a:rPr lang="en-US" sz="2800" dirty="0"/>
              <a:t>2025-26</a:t>
            </a:r>
          </a:p>
        </p:txBody>
      </p:sp>
    </p:spTree>
    <p:extLst>
      <p:ext uri="{BB962C8B-B14F-4D97-AF65-F5344CB8AC3E}">
        <p14:creationId xmlns:p14="http://schemas.microsoft.com/office/powerpoint/2010/main" val="423813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0B70-2DE2-42EB-BD69-9335A1A390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469D15-5F15-4193-9EFE-8CF15B6874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96" t="1891" b="12057"/>
          <a:stretch/>
        </p:blipFill>
        <p:spPr>
          <a:xfrm>
            <a:off x="0" y="0"/>
            <a:ext cx="12192000" cy="6857999"/>
          </a:xfrm>
        </p:spPr>
      </p:pic>
      <p:sp>
        <p:nvSpPr>
          <p:cNvPr id="9" name="TextBox 8">
            <a:extLst>
              <a:ext uri="{FF2B5EF4-FFF2-40B4-BE49-F238E27FC236}">
                <a16:creationId xmlns:a16="http://schemas.microsoft.com/office/drawing/2014/main" id="{EB78D613-E9FA-490D-9C6C-0AF1F0FD28FB}"/>
              </a:ext>
            </a:extLst>
          </p:cNvPr>
          <p:cNvSpPr txBox="1"/>
          <p:nvPr/>
        </p:nvSpPr>
        <p:spPr>
          <a:xfrm>
            <a:off x="0" y="0"/>
            <a:ext cx="12191998" cy="584775"/>
          </a:xfrm>
          <a:prstGeom prst="rect">
            <a:avLst/>
          </a:prstGeom>
          <a:noFill/>
        </p:spPr>
        <p:txBody>
          <a:bodyPr wrap="square" rtlCol="0">
            <a:spAutoFit/>
          </a:bodyPr>
          <a:lstStyle/>
          <a:p>
            <a:pPr algn="ctr"/>
            <a:r>
              <a:rPr lang="en-US" sz="3200" b="1" dirty="0">
                <a:solidFill>
                  <a:srgbClr val="92D050"/>
                </a:solidFill>
              </a:rPr>
              <a:t>INTRODUCTION</a:t>
            </a:r>
          </a:p>
        </p:txBody>
      </p:sp>
      <p:sp>
        <p:nvSpPr>
          <p:cNvPr id="3" name="TextBox 2"/>
          <p:cNvSpPr txBox="1"/>
          <p:nvPr/>
        </p:nvSpPr>
        <p:spPr>
          <a:xfrm>
            <a:off x="285226" y="1174459"/>
            <a:ext cx="11358693" cy="3816429"/>
          </a:xfrm>
          <a:prstGeom prst="rect">
            <a:avLst/>
          </a:prstGeom>
          <a:noFill/>
        </p:spPr>
        <p:txBody>
          <a:bodyPr wrap="square" rtlCol="0">
            <a:spAutoFit/>
          </a:bodyPr>
          <a:lstStyle/>
          <a:p>
            <a:r>
              <a:rPr lang="en-US" sz="2000" b="1" dirty="0">
                <a:solidFill>
                  <a:srgbClr val="FFC000"/>
                </a:solidFill>
                <a:latin typeface="Arial Black" pitchFamily="34" charset="0"/>
              </a:rPr>
              <a:t>Airfare Price Analysis: Economy </a:t>
            </a:r>
            <a:r>
              <a:rPr lang="en-US" sz="2000" b="1" dirty="0" err="1">
                <a:solidFill>
                  <a:srgbClr val="FFC000"/>
                </a:solidFill>
                <a:latin typeface="Arial Black" pitchFamily="34" charset="0"/>
              </a:rPr>
              <a:t>vs</a:t>
            </a:r>
            <a:r>
              <a:rPr lang="en-US" sz="2000" b="1" dirty="0">
                <a:solidFill>
                  <a:srgbClr val="FFC000"/>
                </a:solidFill>
                <a:latin typeface="Arial Black" pitchFamily="34" charset="0"/>
              </a:rPr>
              <a:t> Business Class</a:t>
            </a:r>
          </a:p>
          <a:p>
            <a:endParaRPr lang="en-US" sz="2000" b="1" dirty="0">
              <a:solidFill>
                <a:srgbClr val="FF0000"/>
              </a:solidFill>
              <a:latin typeface="Arial Black" pitchFamily="34" charset="0"/>
            </a:endParaRPr>
          </a:p>
          <a:p>
            <a:r>
              <a:rPr lang="en-US" sz="2000" b="1" dirty="0">
                <a:solidFill>
                  <a:schemeClr val="accent4">
                    <a:lumMod val="60000"/>
                    <a:lumOff val="40000"/>
                  </a:schemeClr>
                </a:solidFill>
              </a:rPr>
              <a:t>Domain &amp; Problem Statement</a:t>
            </a:r>
            <a:br>
              <a:rPr lang="en-US" dirty="0">
                <a:solidFill>
                  <a:schemeClr val="bg1"/>
                </a:solidFill>
              </a:rPr>
            </a:br>
            <a:r>
              <a:rPr lang="en-US" dirty="0">
                <a:solidFill>
                  <a:schemeClr val="bg1"/>
                </a:solidFill>
              </a:rPr>
              <a:t>This project analyzes airline ticket pricing using economy and business class datasets to identify how factors such as airline,</a:t>
            </a:r>
          </a:p>
          <a:p>
            <a:r>
              <a:rPr lang="en-US" dirty="0">
                <a:solidFill>
                  <a:schemeClr val="bg1"/>
                </a:solidFill>
              </a:rPr>
              <a:t> route, duration, and number of stops influence fare variations. The main challenge is the high fluctuation and </a:t>
            </a:r>
          </a:p>
          <a:p>
            <a:r>
              <a:rPr lang="en-US" dirty="0">
                <a:solidFill>
                  <a:schemeClr val="bg1"/>
                </a:solidFill>
              </a:rPr>
              <a:t>unpredictability of ticket prices.</a:t>
            </a:r>
          </a:p>
          <a:p>
            <a:endParaRPr lang="en-US" dirty="0">
              <a:solidFill>
                <a:schemeClr val="bg1"/>
              </a:solidFill>
            </a:endParaRPr>
          </a:p>
          <a:p>
            <a:r>
              <a:rPr lang="en-US" sz="2000" b="1" dirty="0">
                <a:solidFill>
                  <a:schemeClr val="accent4">
                    <a:lumMod val="60000"/>
                    <a:lumOff val="40000"/>
                  </a:schemeClr>
                </a:solidFill>
              </a:rPr>
              <a:t>Objective &amp; Relevance</a:t>
            </a:r>
            <a:br>
              <a:rPr lang="en-US" sz="2000" dirty="0">
                <a:solidFill>
                  <a:schemeClr val="bg1"/>
                </a:solidFill>
              </a:rPr>
            </a:br>
            <a:r>
              <a:rPr lang="en-US" dirty="0">
                <a:solidFill>
                  <a:schemeClr val="bg1"/>
                </a:solidFill>
              </a:rPr>
              <a:t>The objective is to uncover meaningful patterns in airfare data to support better decision-making. This study is relevant </a:t>
            </a:r>
          </a:p>
          <a:p>
            <a:r>
              <a:rPr lang="en-US" dirty="0">
                <a:solidFill>
                  <a:schemeClr val="bg1"/>
                </a:solidFill>
              </a:rPr>
              <a:t>today due to the increasing reliance on data-driven insights in the travel industry.</a:t>
            </a:r>
          </a:p>
          <a:p>
            <a:endParaRPr lang="en-US" dirty="0"/>
          </a:p>
          <a:p>
            <a:endParaRPr lang="en-IN" dirty="0"/>
          </a:p>
        </p:txBody>
      </p:sp>
    </p:spTree>
    <p:extLst>
      <p:ext uri="{BB962C8B-B14F-4D97-AF65-F5344CB8AC3E}">
        <p14:creationId xmlns:p14="http://schemas.microsoft.com/office/powerpoint/2010/main" val="363586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0B70-2DE2-42EB-BD69-9335A1A390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469D15-5F15-4193-9EFE-8CF15B6874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96" t="1891" b="12057"/>
          <a:stretch/>
        </p:blipFill>
        <p:spPr>
          <a:xfrm>
            <a:off x="0" y="0"/>
            <a:ext cx="12192000" cy="6857999"/>
          </a:xfrm>
        </p:spPr>
      </p:pic>
      <p:sp>
        <p:nvSpPr>
          <p:cNvPr id="3" name="TextBox 2">
            <a:extLst>
              <a:ext uri="{FF2B5EF4-FFF2-40B4-BE49-F238E27FC236}">
                <a16:creationId xmlns:a16="http://schemas.microsoft.com/office/drawing/2014/main" id="{99C9533D-5BCE-40C1-8178-12523932F409}"/>
              </a:ext>
            </a:extLst>
          </p:cNvPr>
          <p:cNvSpPr txBox="1"/>
          <p:nvPr/>
        </p:nvSpPr>
        <p:spPr>
          <a:xfrm>
            <a:off x="7636042" y="-2374232"/>
            <a:ext cx="184731" cy="369332"/>
          </a:xfrm>
          <a:prstGeom prst="rect">
            <a:avLst/>
          </a:prstGeom>
          <a:noFill/>
        </p:spPr>
        <p:txBody>
          <a:bodyPr wrap="none" rtlCol="0">
            <a:spAutoFit/>
          </a:bodyPr>
          <a:lstStyle/>
          <a:p>
            <a:endParaRPr lang="en-IN" dirty="0"/>
          </a:p>
        </p:txBody>
      </p:sp>
      <p:sp>
        <p:nvSpPr>
          <p:cNvPr id="7" name="AutoShape 2" descr="Airline ticket pricing analysis infographic">
            <a:extLst>
              <a:ext uri="{FF2B5EF4-FFF2-40B4-BE49-F238E27FC236}">
                <a16:creationId xmlns:a16="http://schemas.microsoft.com/office/drawing/2014/main" id="{17CBF05A-468E-4BB5-9B70-18C07E64874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TextBox 9">
            <a:extLst>
              <a:ext uri="{FF2B5EF4-FFF2-40B4-BE49-F238E27FC236}">
                <a16:creationId xmlns:a16="http://schemas.microsoft.com/office/drawing/2014/main" id="{C1E00AAD-5C08-43DF-8F2A-508647EF1C2A}"/>
              </a:ext>
            </a:extLst>
          </p:cNvPr>
          <p:cNvSpPr txBox="1"/>
          <p:nvPr/>
        </p:nvSpPr>
        <p:spPr>
          <a:xfrm>
            <a:off x="1" y="529389"/>
            <a:ext cx="12192000" cy="4862870"/>
          </a:xfrm>
          <a:prstGeom prst="rect">
            <a:avLst/>
          </a:prstGeom>
          <a:noFill/>
        </p:spPr>
        <p:txBody>
          <a:bodyPr wrap="square" rtlCol="0">
            <a:spAutoFit/>
          </a:bodyPr>
          <a:lstStyle/>
          <a:p>
            <a:r>
              <a:rPr lang="en-US" sz="2400" b="1" dirty="0">
                <a:solidFill>
                  <a:schemeClr val="accent4">
                    <a:lumMod val="60000"/>
                    <a:lumOff val="40000"/>
                  </a:schemeClr>
                </a:solidFill>
              </a:rPr>
              <a:t>Scope of Analysis</a:t>
            </a:r>
          </a:p>
          <a:p>
            <a:r>
              <a:rPr lang="en-US" sz="2000" dirty="0">
                <a:solidFill>
                  <a:schemeClr val="bg1"/>
                </a:solidFill>
              </a:rPr>
              <a:t>Data cleaning and preprocessing of both datasets</a:t>
            </a:r>
            <a:br>
              <a:rPr lang="en-US" sz="2000" dirty="0">
                <a:solidFill>
                  <a:schemeClr val="bg1"/>
                </a:solidFill>
              </a:rPr>
            </a:br>
            <a:r>
              <a:rPr lang="en-US" sz="2000" dirty="0">
                <a:solidFill>
                  <a:schemeClr val="bg1"/>
                </a:solidFill>
              </a:rPr>
              <a:t>Comparative analysis of economy and business class fares</a:t>
            </a:r>
            <a:br>
              <a:rPr lang="en-US" sz="2000" dirty="0">
                <a:solidFill>
                  <a:schemeClr val="bg1"/>
                </a:solidFill>
              </a:rPr>
            </a:br>
            <a:r>
              <a:rPr lang="en-US" sz="2000" dirty="0">
                <a:solidFill>
                  <a:schemeClr val="bg1"/>
                </a:solidFill>
              </a:rPr>
              <a:t>Identification of key factors affecting ticket prices</a:t>
            </a:r>
            <a:br>
              <a:rPr lang="en-US" sz="2000" dirty="0">
                <a:solidFill>
                  <a:schemeClr val="bg1"/>
                </a:solidFill>
              </a:rPr>
            </a:br>
            <a:r>
              <a:rPr lang="en-US" sz="2000" dirty="0">
                <a:solidFill>
                  <a:schemeClr val="bg1"/>
                </a:solidFill>
              </a:rPr>
              <a:t>Does not include real-time pricing or live booking system</a:t>
            </a:r>
          </a:p>
          <a:p>
            <a:endParaRPr lang="en-US" sz="2000" dirty="0">
              <a:solidFill>
                <a:schemeClr val="bg1"/>
              </a:solidFill>
            </a:endParaRPr>
          </a:p>
          <a:p>
            <a:r>
              <a:rPr lang="en-US" sz="2400" b="1" dirty="0">
                <a:solidFill>
                  <a:schemeClr val="accent4">
                    <a:lumMod val="60000"/>
                    <a:lumOff val="40000"/>
                  </a:schemeClr>
                </a:solidFill>
              </a:rPr>
              <a:t>Target Users</a:t>
            </a:r>
            <a:br>
              <a:rPr lang="en-US" sz="2400" dirty="0">
                <a:solidFill>
                  <a:schemeClr val="accent4">
                    <a:lumMod val="60000"/>
                    <a:lumOff val="40000"/>
                  </a:schemeClr>
                </a:solidFill>
              </a:rPr>
            </a:br>
            <a:r>
              <a:rPr lang="en-US" sz="2000" dirty="0">
                <a:solidFill>
                  <a:schemeClr val="bg1"/>
                </a:solidFill>
              </a:rPr>
              <a:t>Travelers, travel agencies, airline companies, and data analysts</a:t>
            </a:r>
          </a:p>
          <a:p>
            <a:endParaRPr lang="en-US" sz="2000" dirty="0">
              <a:solidFill>
                <a:schemeClr val="bg1"/>
              </a:solidFill>
            </a:endParaRPr>
          </a:p>
          <a:p>
            <a:r>
              <a:rPr lang="en-US" sz="2400" b="1" dirty="0">
                <a:solidFill>
                  <a:schemeClr val="accent4">
                    <a:lumMod val="60000"/>
                    <a:lumOff val="40000"/>
                  </a:schemeClr>
                </a:solidFill>
              </a:rPr>
              <a:t>Expected Outcome</a:t>
            </a:r>
            <a:endParaRPr lang="en-US" sz="2400" dirty="0">
              <a:solidFill>
                <a:schemeClr val="accent4">
                  <a:lumMod val="60000"/>
                  <a:lumOff val="40000"/>
                </a:schemeClr>
              </a:solidFill>
            </a:endParaRPr>
          </a:p>
          <a:p>
            <a:r>
              <a:rPr lang="en-US" sz="2000" dirty="0">
                <a:solidFill>
                  <a:schemeClr val="bg1"/>
                </a:solidFill>
              </a:rPr>
              <a:t>Clear insights into airfare trends </a:t>
            </a:r>
          </a:p>
          <a:p>
            <a:r>
              <a:rPr lang="en-US" sz="2000" dirty="0">
                <a:solidFill>
                  <a:schemeClr val="bg1"/>
                </a:solidFill>
              </a:rPr>
              <a:t>Understanding of price-influencing factors </a:t>
            </a:r>
          </a:p>
          <a:p>
            <a:r>
              <a:rPr lang="en-US" sz="2000" dirty="0">
                <a:solidFill>
                  <a:schemeClr val="bg1"/>
                </a:solidFill>
              </a:rPr>
              <a:t>Visualizations and summary report for decision support </a:t>
            </a:r>
          </a:p>
          <a:p>
            <a:endParaRPr lang="en-US" sz="2000" dirty="0">
              <a:solidFill>
                <a:schemeClr val="bg1"/>
              </a:solidFill>
            </a:endParaRPr>
          </a:p>
          <a:p>
            <a:endParaRPr lang="en-IN" sz="2000" dirty="0">
              <a:solidFill>
                <a:schemeClr val="bg1"/>
              </a:solidFill>
            </a:endParaRPr>
          </a:p>
        </p:txBody>
      </p:sp>
    </p:spTree>
    <p:extLst>
      <p:ext uri="{BB962C8B-B14F-4D97-AF65-F5344CB8AC3E}">
        <p14:creationId xmlns:p14="http://schemas.microsoft.com/office/powerpoint/2010/main" val="1589587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0B70-2DE2-42EB-BD69-9335A1A390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469D15-5F15-4193-9EFE-8CF15B6874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96" t="1891" b="12057"/>
          <a:stretch/>
        </p:blipFill>
        <p:spPr>
          <a:xfrm>
            <a:off x="0" y="0"/>
            <a:ext cx="12192000" cy="6857999"/>
          </a:xfrm>
        </p:spPr>
      </p:pic>
      <p:sp>
        <p:nvSpPr>
          <p:cNvPr id="3" name="TextBox 2">
            <a:extLst>
              <a:ext uri="{FF2B5EF4-FFF2-40B4-BE49-F238E27FC236}">
                <a16:creationId xmlns:a16="http://schemas.microsoft.com/office/drawing/2014/main" id="{CC2AAC47-32B3-471E-A5ED-77B156673D93}"/>
              </a:ext>
            </a:extLst>
          </p:cNvPr>
          <p:cNvSpPr txBox="1"/>
          <p:nvPr/>
        </p:nvSpPr>
        <p:spPr>
          <a:xfrm>
            <a:off x="1" y="208547"/>
            <a:ext cx="12192000" cy="6278642"/>
          </a:xfrm>
          <a:prstGeom prst="rect">
            <a:avLst/>
          </a:prstGeom>
          <a:noFill/>
        </p:spPr>
        <p:txBody>
          <a:bodyPr wrap="square" rtlCol="0">
            <a:spAutoFit/>
          </a:bodyPr>
          <a:lstStyle/>
          <a:p>
            <a:pPr algn="ctr"/>
            <a:r>
              <a:rPr lang="en-US" sz="2400" b="1" dirty="0">
                <a:solidFill>
                  <a:srgbClr val="FFC000"/>
                </a:solidFill>
              </a:rPr>
              <a:t>Problem Statement</a:t>
            </a:r>
          </a:p>
          <a:p>
            <a:pPr algn="ctr"/>
            <a:endParaRPr lang="en-US" sz="2400" b="1" dirty="0">
              <a:solidFill>
                <a:srgbClr val="FFC000"/>
              </a:solidFill>
            </a:endParaRPr>
          </a:p>
          <a:p>
            <a:r>
              <a:rPr lang="en-US" sz="2400" b="1" dirty="0">
                <a:solidFill>
                  <a:srgbClr val="FFFF00"/>
                </a:solidFill>
              </a:rPr>
              <a:t>Core Challenge</a:t>
            </a:r>
            <a:br>
              <a:rPr lang="en-US" sz="2000" dirty="0">
                <a:solidFill>
                  <a:schemeClr val="bg1"/>
                </a:solidFill>
              </a:rPr>
            </a:br>
            <a:r>
              <a:rPr lang="en-US" sz="2000" dirty="0">
                <a:solidFill>
                  <a:schemeClr val="bg1"/>
                </a:solidFill>
              </a:rPr>
              <a:t>Airfare prices are highly dynamic and influenced by multiple factors such as airline, route, duration, and number of stops, making it difficult to predict or understand pricing patterns. This lack of transparency creates challenges for users trying to book flights at optimal prices.</a:t>
            </a:r>
          </a:p>
          <a:p>
            <a:endParaRPr lang="en-US" sz="2000" dirty="0">
              <a:solidFill>
                <a:schemeClr val="bg1"/>
              </a:solidFill>
            </a:endParaRPr>
          </a:p>
          <a:p>
            <a:r>
              <a:rPr lang="en-US" sz="2400" b="1" dirty="0">
                <a:solidFill>
                  <a:srgbClr val="FFFF00"/>
                </a:solidFill>
              </a:rPr>
              <a:t>Who is Affected &amp; How</a:t>
            </a:r>
            <a:br>
              <a:rPr lang="en-US" sz="2000" dirty="0">
                <a:solidFill>
                  <a:schemeClr val="bg1"/>
                </a:solidFill>
              </a:rPr>
            </a:br>
            <a:r>
              <a:rPr lang="en-US" sz="2000" dirty="0">
                <a:solidFill>
                  <a:schemeClr val="bg1"/>
                </a:solidFill>
              </a:rPr>
              <a:t>Travelers often end up paying higher prices due to poor timing or lack of insights. Travel agencies and airline analysts also struggle to identify clear pricing trends for better decision-making.</a:t>
            </a:r>
          </a:p>
          <a:p>
            <a:endParaRPr lang="en-US" sz="2000" dirty="0">
              <a:solidFill>
                <a:schemeClr val="bg1"/>
              </a:solidFill>
            </a:endParaRPr>
          </a:p>
          <a:p>
            <a:r>
              <a:rPr lang="en-US" sz="2400" b="1" dirty="0">
                <a:solidFill>
                  <a:srgbClr val="FFFF00"/>
                </a:solidFill>
              </a:rPr>
              <a:t>Current Gap</a:t>
            </a:r>
            <a:br>
              <a:rPr lang="en-US" sz="2000" dirty="0">
                <a:solidFill>
                  <a:schemeClr val="bg1"/>
                </a:solidFill>
              </a:rPr>
            </a:br>
            <a:r>
              <a:rPr lang="en-US" sz="2000" dirty="0">
                <a:solidFill>
                  <a:schemeClr val="bg1"/>
                </a:solidFill>
              </a:rPr>
              <a:t>There is a lack of </a:t>
            </a:r>
            <a:r>
              <a:rPr lang="en-US" sz="2000" b="1" dirty="0">
                <a:solidFill>
                  <a:schemeClr val="bg1"/>
                </a:solidFill>
              </a:rPr>
              <a:t>simple, data-driven analysis tools</a:t>
            </a:r>
            <a:r>
              <a:rPr lang="en-US" sz="2000" dirty="0">
                <a:solidFill>
                  <a:schemeClr val="bg1"/>
                </a:solidFill>
              </a:rPr>
              <a:t> that clearly explain how different factors impact airfare, especially when comparing economy and business class pricing.</a:t>
            </a:r>
          </a:p>
          <a:p>
            <a:endParaRPr lang="en-US" sz="2000" dirty="0">
              <a:solidFill>
                <a:schemeClr val="bg1"/>
              </a:solidFill>
            </a:endParaRPr>
          </a:p>
          <a:p>
            <a:r>
              <a:rPr lang="en-US" sz="2400" b="1" dirty="0">
                <a:solidFill>
                  <a:srgbClr val="FFFF00"/>
                </a:solidFill>
              </a:rPr>
              <a:t>Why Existing Solutions Are Insufficient</a:t>
            </a:r>
            <a:br>
              <a:rPr lang="en-US" sz="2000" dirty="0">
                <a:solidFill>
                  <a:schemeClr val="bg1"/>
                </a:solidFill>
              </a:rPr>
            </a:br>
            <a:r>
              <a:rPr lang="en-US" sz="2000" dirty="0">
                <a:solidFill>
                  <a:schemeClr val="bg1"/>
                </a:solidFill>
              </a:rPr>
              <a:t>Most booking platforms only show current prices without providing insights into </a:t>
            </a:r>
            <a:r>
              <a:rPr lang="en-US" sz="2000" b="1" dirty="0">
                <a:solidFill>
                  <a:schemeClr val="bg1"/>
                </a:solidFill>
              </a:rPr>
              <a:t>why prices change</a:t>
            </a:r>
            <a:r>
              <a:rPr lang="en-US" sz="2000" dirty="0">
                <a:solidFill>
                  <a:schemeClr val="bg1"/>
                </a:solidFill>
              </a:rPr>
              <a:t> or how to predict trends, limiting users’ ability to make informed decisions.</a:t>
            </a:r>
          </a:p>
          <a:p>
            <a:endParaRPr lang="en-IN" dirty="0"/>
          </a:p>
        </p:txBody>
      </p:sp>
    </p:spTree>
    <p:extLst>
      <p:ext uri="{BB962C8B-B14F-4D97-AF65-F5344CB8AC3E}">
        <p14:creationId xmlns:p14="http://schemas.microsoft.com/office/powerpoint/2010/main" val="992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0B70-2DE2-42EB-BD69-9335A1A390A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9469D15-5F15-4193-9EFE-8CF15B6874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96" t="1891" b="12057"/>
          <a:stretch/>
        </p:blipFill>
        <p:spPr>
          <a:xfrm>
            <a:off x="0" y="0"/>
            <a:ext cx="12192000" cy="6857999"/>
          </a:xfrm>
        </p:spPr>
      </p:pic>
      <p:sp>
        <p:nvSpPr>
          <p:cNvPr id="3" name="TextBox 2">
            <a:extLst>
              <a:ext uri="{FF2B5EF4-FFF2-40B4-BE49-F238E27FC236}">
                <a16:creationId xmlns:a16="http://schemas.microsoft.com/office/drawing/2014/main" id="{EE7A4293-7BA8-405A-9C19-F04A67461E57}"/>
              </a:ext>
            </a:extLst>
          </p:cNvPr>
          <p:cNvSpPr txBox="1"/>
          <p:nvPr/>
        </p:nvSpPr>
        <p:spPr>
          <a:xfrm>
            <a:off x="0" y="117693"/>
            <a:ext cx="12192000" cy="523220"/>
          </a:xfrm>
          <a:prstGeom prst="rect">
            <a:avLst/>
          </a:prstGeom>
          <a:noFill/>
        </p:spPr>
        <p:txBody>
          <a:bodyPr wrap="square" rtlCol="0">
            <a:spAutoFit/>
          </a:bodyPr>
          <a:lstStyle/>
          <a:p>
            <a:pPr algn="ctr"/>
            <a:r>
              <a:rPr lang="en-US" sz="2800" b="1" dirty="0">
                <a:solidFill>
                  <a:srgbClr val="92D050"/>
                </a:solidFill>
              </a:rPr>
              <a:t>OBJECTIVES</a:t>
            </a:r>
          </a:p>
        </p:txBody>
      </p:sp>
      <p:sp>
        <p:nvSpPr>
          <p:cNvPr id="4" name="TextBox 3"/>
          <p:cNvSpPr txBox="1"/>
          <p:nvPr/>
        </p:nvSpPr>
        <p:spPr>
          <a:xfrm>
            <a:off x="307596" y="964734"/>
            <a:ext cx="11576807" cy="4832092"/>
          </a:xfrm>
          <a:prstGeom prst="rect">
            <a:avLst/>
          </a:prstGeom>
          <a:noFill/>
        </p:spPr>
        <p:txBody>
          <a:bodyPr wrap="square" rtlCol="0">
            <a:spAutoFit/>
          </a:bodyPr>
          <a:lstStyle/>
          <a:p>
            <a:r>
              <a:rPr lang="en-US" sz="2400" b="1" dirty="0">
                <a:solidFill>
                  <a:srgbClr val="FFFF00"/>
                </a:solidFill>
              </a:rPr>
              <a:t>Key Goals of the Project</a:t>
            </a:r>
          </a:p>
          <a:p>
            <a:endParaRPr lang="en-US" sz="2400" b="1" dirty="0">
              <a:solidFill>
                <a:srgbClr val="FFFF00"/>
              </a:solidFill>
            </a:endParaRPr>
          </a:p>
          <a:p>
            <a:r>
              <a:rPr lang="en-US" sz="2000" b="1" dirty="0">
                <a:solidFill>
                  <a:schemeClr val="accent4">
                    <a:lumMod val="60000"/>
                    <a:lumOff val="40000"/>
                  </a:schemeClr>
                </a:solidFill>
              </a:rPr>
              <a:t>Data Collection &amp; Preprocessing</a:t>
            </a:r>
            <a:br>
              <a:rPr lang="en-US" sz="2000" dirty="0">
                <a:solidFill>
                  <a:schemeClr val="bg1"/>
                </a:solidFill>
              </a:rPr>
            </a:br>
            <a:r>
              <a:rPr lang="en-US" sz="2000" dirty="0">
                <a:solidFill>
                  <a:schemeClr val="bg1"/>
                </a:solidFill>
              </a:rPr>
              <a:t>Gather and clean real-world airfare data from economy and business class datasets to ensure accuracy and consistency </a:t>
            </a:r>
          </a:p>
          <a:p>
            <a:r>
              <a:rPr lang="en-US" sz="2000" b="1" dirty="0">
                <a:solidFill>
                  <a:schemeClr val="accent4">
                    <a:lumMod val="60000"/>
                    <a:lumOff val="40000"/>
                  </a:schemeClr>
                </a:solidFill>
              </a:rPr>
              <a:t>Exploratory Data Analysis (EDA)</a:t>
            </a:r>
            <a:br>
              <a:rPr lang="en-US" sz="2000" dirty="0">
                <a:solidFill>
                  <a:schemeClr val="accent4">
                    <a:lumMod val="60000"/>
                    <a:lumOff val="40000"/>
                  </a:schemeClr>
                </a:solidFill>
              </a:rPr>
            </a:br>
            <a:r>
              <a:rPr lang="en-US" sz="2000" dirty="0">
                <a:solidFill>
                  <a:schemeClr val="bg1"/>
                </a:solidFill>
              </a:rPr>
              <a:t>Analyze the data to identify key patterns, trends, and relationships affecting ticket prices </a:t>
            </a:r>
          </a:p>
          <a:p>
            <a:r>
              <a:rPr lang="en-US" sz="2000" b="1" dirty="0">
                <a:solidFill>
                  <a:schemeClr val="accent4">
                    <a:lumMod val="60000"/>
                    <a:lumOff val="40000"/>
                  </a:schemeClr>
                </a:solidFill>
              </a:rPr>
              <a:t>Data Visualization</a:t>
            </a:r>
            <a:br>
              <a:rPr lang="en-US" sz="2000" dirty="0">
                <a:solidFill>
                  <a:schemeClr val="bg1"/>
                </a:solidFill>
              </a:rPr>
            </a:br>
            <a:r>
              <a:rPr lang="en-US" sz="2000" dirty="0">
                <a:solidFill>
                  <a:schemeClr val="bg1"/>
                </a:solidFill>
              </a:rPr>
              <a:t>Create clear and meaningful visualizations to effectively communicate insights </a:t>
            </a:r>
          </a:p>
          <a:p>
            <a:r>
              <a:rPr lang="en-US" sz="2000" b="1" dirty="0">
                <a:solidFill>
                  <a:schemeClr val="accent4">
                    <a:lumMod val="60000"/>
                    <a:lumOff val="40000"/>
                  </a:schemeClr>
                </a:solidFill>
              </a:rPr>
              <a:t>Statistical / ML Application</a:t>
            </a:r>
            <a:br>
              <a:rPr lang="en-US" sz="2000" dirty="0">
                <a:solidFill>
                  <a:schemeClr val="bg1"/>
                </a:solidFill>
              </a:rPr>
            </a:br>
            <a:r>
              <a:rPr lang="en-US" sz="2000" dirty="0">
                <a:solidFill>
                  <a:schemeClr val="bg1"/>
                </a:solidFill>
              </a:rPr>
              <a:t>Apply basic statistical techniques or machine learning methods to support analysis and identify influencing factors </a:t>
            </a:r>
          </a:p>
          <a:p>
            <a:r>
              <a:rPr lang="en-US" sz="2000" b="1" dirty="0">
                <a:solidFill>
                  <a:schemeClr val="accent4">
                    <a:lumMod val="60000"/>
                    <a:lumOff val="40000"/>
                  </a:schemeClr>
                </a:solidFill>
              </a:rPr>
              <a:t>Final Deliverable</a:t>
            </a:r>
            <a:br>
              <a:rPr lang="en-US" sz="2000" dirty="0">
                <a:solidFill>
                  <a:schemeClr val="bg1"/>
                </a:solidFill>
              </a:rPr>
            </a:br>
            <a:r>
              <a:rPr lang="en-US" sz="2000" dirty="0">
                <a:solidFill>
                  <a:schemeClr val="bg1"/>
                </a:solidFill>
              </a:rPr>
              <a:t>Develop an interactive dashboard or structured report for end users to explore insights easily </a:t>
            </a:r>
          </a:p>
          <a:p>
            <a:endParaRPr lang="en-IN" sz="2000" dirty="0">
              <a:solidFill>
                <a:schemeClr val="bg1"/>
              </a:solidFill>
            </a:endParaRPr>
          </a:p>
        </p:txBody>
      </p:sp>
    </p:spTree>
    <p:extLst>
      <p:ext uri="{BB962C8B-B14F-4D97-AF65-F5344CB8AC3E}">
        <p14:creationId xmlns:p14="http://schemas.microsoft.com/office/powerpoint/2010/main" val="62467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6B5A-CF20-42EE-943D-DA9BE6026D5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E977107-D940-4AAE-A941-929D9FF11D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D1CDD812-3E11-4C7F-8AD1-D78A5C917601}"/>
              </a:ext>
            </a:extLst>
          </p:cNvPr>
          <p:cNvSpPr txBox="1"/>
          <p:nvPr/>
        </p:nvSpPr>
        <p:spPr>
          <a:xfrm>
            <a:off x="1" y="365124"/>
            <a:ext cx="12192000" cy="6492875"/>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84A94262-99CF-4F4C-B62D-D4BD2EB44725}"/>
              </a:ext>
            </a:extLst>
          </p:cNvPr>
          <p:cNvSpPr txBox="1"/>
          <p:nvPr/>
        </p:nvSpPr>
        <p:spPr>
          <a:xfrm>
            <a:off x="0" y="1"/>
            <a:ext cx="12191999" cy="5909310"/>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3" name="TextBox 2"/>
          <p:cNvSpPr txBox="1"/>
          <p:nvPr/>
        </p:nvSpPr>
        <p:spPr>
          <a:xfrm>
            <a:off x="20442" y="365124"/>
            <a:ext cx="12171559" cy="461665"/>
          </a:xfrm>
          <a:prstGeom prst="rect">
            <a:avLst/>
          </a:prstGeom>
          <a:noFill/>
        </p:spPr>
        <p:txBody>
          <a:bodyPr wrap="square" rtlCol="0">
            <a:spAutoFit/>
          </a:bodyPr>
          <a:lstStyle/>
          <a:p>
            <a:pPr algn="ctr"/>
            <a:r>
              <a:rPr lang="en-US" sz="2400" b="1" dirty="0">
                <a:solidFill>
                  <a:srgbClr val="FFC000"/>
                </a:solidFill>
              </a:rPr>
              <a:t>BUSINESS CONTEXT</a:t>
            </a:r>
            <a:endParaRPr lang="en-IN" sz="2400" dirty="0">
              <a:solidFill>
                <a:srgbClr val="FFC000"/>
              </a:solidFill>
            </a:endParaRPr>
          </a:p>
        </p:txBody>
      </p:sp>
      <p:sp>
        <p:nvSpPr>
          <p:cNvPr id="4" name="TextBox 3"/>
          <p:cNvSpPr txBox="1"/>
          <p:nvPr/>
        </p:nvSpPr>
        <p:spPr>
          <a:xfrm>
            <a:off x="251670" y="1300294"/>
            <a:ext cx="11467750" cy="3877985"/>
          </a:xfrm>
          <a:prstGeom prst="rect">
            <a:avLst/>
          </a:prstGeom>
          <a:noFill/>
        </p:spPr>
        <p:txBody>
          <a:bodyPr wrap="square" rtlCol="0">
            <a:spAutoFit/>
          </a:bodyPr>
          <a:lstStyle/>
          <a:p>
            <a:r>
              <a:rPr lang="en-US" sz="2400" b="1" dirty="0">
                <a:solidFill>
                  <a:srgbClr val="FFFF00"/>
                </a:solidFill>
              </a:rPr>
              <a:t>Why This Project Matters</a:t>
            </a:r>
          </a:p>
          <a:p>
            <a:endParaRPr lang="en-US" sz="2400" b="1" dirty="0">
              <a:solidFill>
                <a:srgbClr val="FFFF00"/>
              </a:solidFill>
            </a:endParaRPr>
          </a:p>
          <a:p>
            <a:r>
              <a:rPr lang="en-US" b="1" dirty="0">
                <a:solidFill>
                  <a:schemeClr val="accent4">
                    <a:lumMod val="60000"/>
                    <a:lumOff val="40000"/>
                  </a:schemeClr>
                </a:solidFill>
              </a:rPr>
              <a:t>Industry Domain</a:t>
            </a:r>
            <a:br>
              <a:rPr lang="en-US" dirty="0">
                <a:solidFill>
                  <a:schemeClr val="bg1"/>
                </a:solidFill>
              </a:rPr>
            </a:br>
            <a:r>
              <a:rPr lang="en-US" dirty="0">
                <a:solidFill>
                  <a:schemeClr val="bg1"/>
                </a:solidFill>
              </a:rPr>
              <a:t>Travel &amp; Aviation Industry (Airfare Pricing Analytics)</a:t>
            </a:r>
          </a:p>
          <a:p>
            <a:r>
              <a:rPr lang="en-US" b="1" dirty="0">
                <a:solidFill>
                  <a:schemeClr val="accent4">
                    <a:lumMod val="60000"/>
                    <a:lumOff val="40000"/>
                  </a:schemeClr>
                </a:solidFill>
              </a:rPr>
              <a:t>Real-World Impact</a:t>
            </a:r>
            <a:br>
              <a:rPr lang="en-US" dirty="0">
                <a:solidFill>
                  <a:schemeClr val="bg1"/>
                </a:solidFill>
              </a:rPr>
            </a:br>
            <a:r>
              <a:rPr lang="en-US" dirty="0">
                <a:solidFill>
                  <a:schemeClr val="bg1"/>
                </a:solidFill>
              </a:rPr>
              <a:t>This analysis helps users make </a:t>
            </a:r>
            <a:r>
              <a:rPr lang="en-US" b="1" dirty="0">
                <a:solidFill>
                  <a:schemeClr val="bg1"/>
                </a:solidFill>
              </a:rPr>
              <a:t>cost-effective booking decisions</a:t>
            </a:r>
            <a:r>
              <a:rPr lang="en-US" dirty="0">
                <a:solidFill>
                  <a:schemeClr val="bg1"/>
                </a:solidFill>
              </a:rPr>
              <a:t> by understanding fare trends. It also supports airlines and agencies in optimizing pricing strategies.</a:t>
            </a:r>
          </a:p>
          <a:p>
            <a:r>
              <a:rPr lang="en-US" b="1" dirty="0">
                <a:solidFill>
                  <a:schemeClr val="accent4">
                    <a:lumMod val="60000"/>
                    <a:lumOff val="40000"/>
                  </a:schemeClr>
                </a:solidFill>
              </a:rPr>
              <a:t>Stakeholders</a:t>
            </a:r>
            <a:endParaRPr lang="en-US" dirty="0">
              <a:solidFill>
                <a:schemeClr val="accent4">
                  <a:lumMod val="60000"/>
                  <a:lumOff val="40000"/>
                </a:schemeClr>
              </a:solidFill>
            </a:endParaRPr>
          </a:p>
          <a:p>
            <a:r>
              <a:rPr lang="en-US" dirty="0">
                <a:solidFill>
                  <a:schemeClr val="bg1"/>
                </a:solidFill>
              </a:rPr>
              <a:t>Travelers (end users) </a:t>
            </a:r>
          </a:p>
          <a:p>
            <a:r>
              <a:rPr lang="en-US" dirty="0">
                <a:solidFill>
                  <a:schemeClr val="bg1"/>
                </a:solidFill>
              </a:rPr>
              <a:t>Travel agencies </a:t>
            </a:r>
          </a:p>
          <a:p>
            <a:r>
              <a:rPr lang="en-US" dirty="0">
                <a:solidFill>
                  <a:schemeClr val="bg1"/>
                </a:solidFill>
              </a:rPr>
              <a:t>Airline companies </a:t>
            </a:r>
          </a:p>
          <a:p>
            <a:r>
              <a:rPr lang="en-US" dirty="0">
                <a:solidFill>
                  <a:schemeClr val="bg1"/>
                </a:solidFill>
              </a:rPr>
              <a:t>Data analysts </a:t>
            </a:r>
          </a:p>
          <a:p>
            <a:endParaRPr lang="en-IN" dirty="0"/>
          </a:p>
        </p:txBody>
      </p:sp>
    </p:spTree>
    <p:extLst>
      <p:ext uri="{BB962C8B-B14F-4D97-AF65-F5344CB8AC3E}">
        <p14:creationId xmlns:p14="http://schemas.microsoft.com/office/powerpoint/2010/main" val="1638257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6B5A-CF20-42EE-943D-DA9BE6026D5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E977107-D940-4AAE-A941-929D9FF11D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D1CDD812-3E11-4C7F-8AD1-D78A5C917601}"/>
              </a:ext>
            </a:extLst>
          </p:cNvPr>
          <p:cNvSpPr txBox="1"/>
          <p:nvPr/>
        </p:nvSpPr>
        <p:spPr>
          <a:xfrm>
            <a:off x="1" y="365124"/>
            <a:ext cx="12192000" cy="6492875"/>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84A94262-99CF-4F4C-B62D-D4BD2EB44725}"/>
              </a:ext>
            </a:extLst>
          </p:cNvPr>
          <p:cNvSpPr txBox="1"/>
          <p:nvPr/>
        </p:nvSpPr>
        <p:spPr>
          <a:xfrm>
            <a:off x="0" y="1"/>
            <a:ext cx="12191999" cy="5909310"/>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3" name="TextBox 2"/>
          <p:cNvSpPr txBox="1"/>
          <p:nvPr/>
        </p:nvSpPr>
        <p:spPr>
          <a:xfrm>
            <a:off x="620785" y="780176"/>
            <a:ext cx="184731" cy="430887"/>
          </a:xfrm>
          <a:prstGeom prst="rect">
            <a:avLst/>
          </a:prstGeom>
          <a:noFill/>
        </p:spPr>
        <p:txBody>
          <a:bodyPr wrap="none" rtlCol="0">
            <a:spAutoFit/>
          </a:bodyPr>
          <a:lstStyle/>
          <a:p>
            <a:endParaRPr lang="en-IN" sz="2200" dirty="0"/>
          </a:p>
        </p:txBody>
      </p:sp>
      <p:sp>
        <p:nvSpPr>
          <p:cNvPr id="4" name="TextBox 3"/>
          <p:cNvSpPr txBox="1"/>
          <p:nvPr/>
        </p:nvSpPr>
        <p:spPr>
          <a:xfrm>
            <a:off x="159391" y="293615"/>
            <a:ext cx="9764785" cy="4031873"/>
          </a:xfrm>
          <a:prstGeom prst="rect">
            <a:avLst/>
          </a:prstGeom>
          <a:noFill/>
        </p:spPr>
        <p:txBody>
          <a:bodyPr wrap="square" rtlCol="0">
            <a:spAutoFit/>
          </a:bodyPr>
          <a:lstStyle/>
          <a:p>
            <a:r>
              <a:rPr lang="en-US" sz="2000" b="1" dirty="0">
                <a:solidFill>
                  <a:srgbClr val="FFFF00"/>
                </a:solidFill>
              </a:rPr>
              <a:t>Scale of Data</a:t>
            </a:r>
            <a:br>
              <a:rPr lang="en-US" sz="2000" dirty="0">
                <a:solidFill>
                  <a:srgbClr val="FFFF00"/>
                </a:solidFill>
              </a:rPr>
            </a:br>
            <a:r>
              <a:rPr lang="en-US" dirty="0">
                <a:solidFill>
                  <a:schemeClr val="bg1"/>
                </a:solidFill>
              </a:rPr>
              <a:t>The project uses </a:t>
            </a:r>
            <a:r>
              <a:rPr lang="en-US" b="1" dirty="0">
                <a:solidFill>
                  <a:schemeClr val="bg1"/>
                </a:solidFill>
              </a:rPr>
              <a:t>large real-world datasets</a:t>
            </a:r>
            <a:r>
              <a:rPr lang="en-US" dirty="0">
                <a:solidFill>
                  <a:schemeClr val="bg1"/>
                </a:solidFill>
              </a:rPr>
              <a:t> covering multiple airlines, routes, durations, stops, and pricing for both economy and business classes.</a:t>
            </a:r>
          </a:p>
          <a:p>
            <a:endParaRPr lang="en-US" dirty="0">
              <a:solidFill>
                <a:schemeClr val="bg1"/>
              </a:solidFill>
            </a:endParaRPr>
          </a:p>
          <a:p>
            <a:r>
              <a:rPr lang="en-US" sz="2000" b="1" dirty="0">
                <a:solidFill>
                  <a:srgbClr val="FFFF00"/>
                </a:solidFill>
              </a:rPr>
              <a:t>Business Question</a:t>
            </a:r>
            <a:br>
              <a:rPr lang="en-US" dirty="0">
                <a:solidFill>
                  <a:schemeClr val="bg1"/>
                </a:solidFill>
              </a:rPr>
            </a:br>
            <a:r>
              <a:rPr lang="en-US" dirty="0">
                <a:solidFill>
                  <a:schemeClr val="bg1"/>
                </a:solidFill>
              </a:rPr>
              <a:t>“How do different factors like airline, route, duration, and stops influence airfare prices, and how can users identify the best time and option to book?”</a:t>
            </a:r>
          </a:p>
          <a:p>
            <a:endParaRPr lang="en-US" dirty="0">
              <a:solidFill>
                <a:schemeClr val="bg1"/>
              </a:solidFill>
            </a:endParaRPr>
          </a:p>
          <a:p>
            <a:r>
              <a:rPr lang="en-US" sz="2000" b="1" dirty="0">
                <a:solidFill>
                  <a:srgbClr val="FFFF00"/>
                </a:solidFill>
              </a:rPr>
              <a:t>Potential Outcome / ROI</a:t>
            </a:r>
            <a:endParaRPr lang="en-US" sz="2000" dirty="0">
              <a:solidFill>
                <a:srgbClr val="FFFF00"/>
              </a:solidFill>
            </a:endParaRPr>
          </a:p>
          <a:p>
            <a:r>
              <a:rPr lang="en-US" dirty="0">
                <a:solidFill>
                  <a:schemeClr val="bg1"/>
                </a:solidFill>
              </a:rPr>
              <a:t>Reduced travel costs for users </a:t>
            </a:r>
          </a:p>
          <a:p>
            <a:r>
              <a:rPr lang="en-US" dirty="0">
                <a:solidFill>
                  <a:schemeClr val="bg1"/>
                </a:solidFill>
              </a:rPr>
              <a:t>Better pricing strategies for airlines </a:t>
            </a:r>
          </a:p>
          <a:p>
            <a:r>
              <a:rPr lang="en-US" dirty="0">
                <a:solidFill>
                  <a:schemeClr val="bg1"/>
                </a:solidFill>
              </a:rPr>
              <a:t>Improved decision-making using data insights </a:t>
            </a:r>
          </a:p>
          <a:p>
            <a:r>
              <a:rPr lang="en-US" dirty="0">
                <a:solidFill>
                  <a:schemeClr val="bg1"/>
                </a:solidFill>
              </a:rPr>
              <a:t>Clear visual dashboards for quick understanding</a:t>
            </a:r>
          </a:p>
          <a:p>
            <a:endParaRPr lang="en-IN" dirty="0">
              <a:solidFill>
                <a:schemeClr val="bg1"/>
              </a:solidFill>
            </a:endParaRPr>
          </a:p>
        </p:txBody>
      </p:sp>
    </p:spTree>
    <p:extLst>
      <p:ext uri="{BB962C8B-B14F-4D97-AF65-F5344CB8AC3E}">
        <p14:creationId xmlns:p14="http://schemas.microsoft.com/office/powerpoint/2010/main" val="2247826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96B5A-CF20-42EE-943D-DA9BE6026D56}"/>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E977107-D940-4AAE-A941-929D9FF11D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D1CDD812-3E11-4C7F-8AD1-D78A5C917601}"/>
              </a:ext>
            </a:extLst>
          </p:cNvPr>
          <p:cNvSpPr txBox="1"/>
          <p:nvPr/>
        </p:nvSpPr>
        <p:spPr>
          <a:xfrm>
            <a:off x="1" y="365124"/>
            <a:ext cx="12192000" cy="6492875"/>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84A94262-99CF-4F4C-B62D-D4BD2EB44725}"/>
              </a:ext>
            </a:extLst>
          </p:cNvPr>
          <p:cNvSpPr txBox="1"/>
          <p:nvPr/>
        </p:nvSpPr>
        <p:spPr>
          <a:xfrm>
            <a:off x="0" y="1"/>
            <a:ext cx="12191999" cy="5909310"/>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3" name="TextBox 2"/>
          <p:cNvSpPr txBox="1"/>
          <p:nvPr/>
        </p:nvSpPr>
        <p:spPr>
          <a:xfrm>
            <a:off x="620785" y="780176"/>
            <a:ext cx="184731" cy="430887"/>
          </a:xfrm>
          <a:prstGeom prst="rect">
            <a:avLst/>
          </a:prstGeom>
          <a:noFill/>
        </p:spPr>
        <p:txBody>
          <a:bodyPr wrap="none" rtlCol="0">
            <a:spAutoFit/>
          </a:bodyPr>
          <a:lstStyle/>
          <a:p>
            <a:endParaRPr lang="en-IN" sz="2200" dirty="0"/>
          </a:p>
        </p:txBody>
      </p:sp>
      <p:sp>
        <p:nvSpPr>
          <p:cNvPr id="4" name="TextBox 3"/>
          <p:cNvSpPr txBox="1"/>
          <p:nvPr/>
        </p:nvSpPr>
        <p:spPr>
          <a:xfrm>
            <a:off x="159391" y="293615"/>
            <a:ext cx="9764785" cy="461665"/>
          </a:xfrm>
          <a:prstGeom prst="rect">
            <a:avLst/>
          </a:prstGeom>
          <a:noFill/>
        </p:spPr>
        <p:txBody>
          <a:bodyPr wrap="square" rtlCol="0">
            <a:spAutoFit/>
          </a:bodyPr>
          <a:lstStyle/>
          <a:p>
            <a:pPr algn="ctr"/>
            <a:r>
              <a:rPr lang="en-US" sz="2400" b="1" dirty="0">
                <a:solidFill>
                  <a:srgbClr val="FFC000"/>
                </a:solidFill>
              </a:rPr>
              <a:t>METHODOLOGY</a:t>
            </a:r>
            <a:endParaRPr lang="en-IN" sz="2400" dirty="0">
              <a:solidFill>
                <a:srgbClr val="FFC000"/>
              </a:solidFill>
            </a:endParaRPr>
          </a:p>
        </p:txBody>
      </p:sp>
      <p:sp>
        <p:nvSpPr>
          <p:cNvPr id="8" name="TextBox 7"/>
          <p:cNvSpPr txBox="1"/>
          <p:nvPr/>
        </p:nvSpPr>
        <p:spPr>
          <a:xfrm>
            <a:off x="419449" y="880844"/>
            <a:ext cx="10964411" cy="5232202"/>
          </a:xfrm>
          <a:prstGeom prst="rect">
            <a:avLst/>
          </a:prstGeom>
          <a:noFill/>
        </p:spPr>
        <p:txBody>
          <a:bodyPr wrap="square" rtlCol="0">
            <a:spAutoFit/>
          </a:bodyPr>
          <a:lstStyle/>
          <a:p>
            <a:r>
              <a:rPr lang="en-US" sz="3200" b="1" dirty="0">
                <a:solidFill>
                  <a:srgbClr val="FFC000"/>
                </a:solidFill>
              </a:rPr>
              <a:t>Project Workflow</a:t>
            </a:r>
          </a:p>
          <a:p>
            <a:endParaRPr lang="en-US" sz="3200" b="1" dirty="0">
              <a:solidFill>
                <a:srgbClr val="C00000"/>
              </a:solidFill>
            </a:endParaRPr>
          </a:p>
          <a:p>
            <a:r>
              <a:rPr lang="en-US" b="1" dirty="0">
                <a:solidFill>
                  <a:schemeClr val="accent2">
                    <a:lumMod val="60000"/>
                    <a:lumOff val="40000"/>
                  </a:schemeClr>
                </a:solidFill>
              </a:rPr>
              <a:t>Step 1: Problem Definition</a:t>
            </a:r>
            <a:br>
              <a:rPr lang="en-US" dirty="0">
                <a:solidFill>
                  <a:schemeClr val="bg1"/>
                </a:solidFill>
              </a:rPr>
            </a:br>
            <a:r>
              <a:rPr lang="en-US" dirty="0">
                <a:solidFill>
                  <a:schemeClr val="bg1"/>
                </a:solidFill>
              </a:rPr>
              <a:t>Define the problem statement and key analytical questions related to airfare pricing</a:t>
            </a:r>
          </a:p>
          <a:p>
            <a:r>
              <a:rPr lang="en-US" b="1" dirty="0">
                <a:solidFill>
                  <a:schemeClr val="accent2">
                    <a:lumMod val="60000"/>
                    <a:lumOff val="40000"/>
                  </a:schemeClr>
                </a:solidFill>
              </a:rPr>
              <a:t>Step 2: Data Collection</a:t>
            </a:r>
            <a:br>
              <a:rPr lang="en-US" dirty="0">
                <a:solidFill>
                  <a:schemeClr val="accent2">
                    <a:lumMod val="60000"/>
                    <a:lumOff val="40000"/>
                  </a:schemeClr>
                </a:solidFill>
              </a:rPr>
            </a:br>
            <a:r>
              <a:rPr lang="en-US" dirty="0">
                <a:solidFill>
                  <a:schemeClr val="bg1"/>
                </a:solidFill>
              </a:rPr>
              <a:t>Collect relevant data from economy and business class datasets</a:t>
            </a:r>
          </a:p>
          <a:p>
            <a:r>
              <a:rPr lang="en-US" b="1" dirty="0">
                <a:solidFill>
                  <a:schemeClr val="accent2">
                    <a:lumMod val="60000"/>
                    <a:lumOff val="40000"/>
                  </a:schemeClr>
                </a:solidFill>
              </a:rPr>
              <a:t>Step 3: Data Preprocessing</a:t>
            </a:r>
            <a:br>
              <a:rPr lang="en-US" dirty="0">
                <a:solidFill>
                  <a:schemeClr val="bg1"/>
                </a:solidFill>
              </a:rPr>
            </a:br>
            <a:r>
              <a:rPr lang="en-US" dirty="0">
                <a:solidFill>
                  <a:schemeClr val="bg1"/>
                </a:solidFill>
              </a:rPr>
              <a:t>Clean and transform data using Python/SQL to ensure accuracy and consistency</a:t>
            </a:r>
          </a:p>
          <a:p>
            <a:r>
              <a:rPr lang="en-US" b="1" dirty="0">
                <a:solidFill>
                  <a:schemeClr val="accent2">
                    <a:lumMod val="60000"/>
                    <a:lumOff val="40000"/>
                  </a:schemeClr>
                </a:solidFill>
              </a:rPr>
              <a:t>Step 4: Exploratory Data Analysis (EDA)</a:t>
            </a:r>
            <a:br>
              <a:rPr lang="en-US" dirty="0">
                <a:solidFill>
                  <a:schemeClr val="accent2">
                    <a:lumMod val="60000"/>
                    <a:lumOff val="40000"/>
                  </a:schemeClr>
                </a:solidFill>
              </a:rPr>
            </a:br>
            <a:r>
              <a:rPr lang="en-US" dirty="0">
                <a:solidFill>
                  <a:schemeClr val="bg1"/>
                </a:solidFill>
              </a:rPr>
              <a:t>Analyze distributions, trends, and correlations between variables affecting prices</a:t>
            </a:r>
          </a:p>
          <a:p>
            <a:r>
              <a:rPr lang="en-US" b="1" dirty="0">
                <a:solidFill>
                  <a:schemeClr val="accent2">
                    <a:lumMod val="60000"/>
                    <a:lumOff val="40000"/>
                  </a:schemeClr>
                </a:solidFill>
              </a:rPr>
              <a:t>Step 5: Data Visualization</a:t>
            </a:r>
            <a:br>
              <a:rPr lang="en-US" dirty="0">
                <a:solidFill>
                  <a:schemeClr val="bg1"/>
                </a:solidFill>
              </a:rPr>
            </a:br>
            <a:r>
              <a:rPr lang="en-US" dirty="0">
                <a:solidFill>
                  <a:schemeClr val="bg1"/>
                </a:solidFill>
              </a:rPr>
              <a:t>Create meaningful charts and graphs to highlight key insights</a:t>
            </a:r>
          </a:p>
          <a:p>
            <a:r>
              <a:rPr lang="en-US" b="1" dirty="0">
                <a:solidFill>
                  <a:schemeClr val="accent2">
                    <a:lumMod val="60000"/>
                    <a:lumOff val="40000"/>
                  </a:schemeClr>
                </a:solidFill>
              </a:rPr>
              <a:t>Step 6: Analysis / Modeling</a:t>
            </a:r>
            <a:br>
              <a:rPr lang="en-US" dirty="0">
                <a:solidFill>
                  <a:schemeClr val="accent2">
                    <a:lumMod val="60000"/>
                    <a:lumOff val="40000"/>
                  </a:schemeClr>
                </a:solidFill>
              </a:rPr>
            </a:br>
            <a:r>
              <a:rPr lang="en-US" dirty="0">
                <a:solidFill>
                  <a:schemeClr val="bg1"/>
                </a:solidFill>
              </a:rPr>
              <a:t>Apply statistical methods or basic machine learning techniques to support findings</a:t>
            </a:r>
          </a:p>
          <a:p>
            <a:r>
              <a:rPr lang="en-US" b="1" dirty="0">
                <a:solidFill>
                  <a:schemeClr val="accent2">
                    <a:lumMod val="60000"/>
                    <a:lumOff val="40000"/>
                  </a:schemeClr>
                </a:solidFill>
              </a:rPr>
              <a:t>Step 7: Reporting &amp; Presentation</a:t>
            </a:r>
            <a:br>
              <a:rPr lang="en-US" dirty="0">
                <a:solidFill>
                  <a:schemeClr val="accent2">
                    <a:lumMod val="60000"/>
                    <a:lumOff val="40000"/>
                  </a:schemeClr>
                </a:solidFill>
              </a:rPr>
            </a:br>
            <a:r>
              <a:rPr lang="en-US" dirty="0">
                <a:solidFill>
                  <a:schemeClr val="bg1"/>
                </a:solidFill>
              </a:rPr>
              <a:t>Summarize insights and present results through dashboards and final reports</a:t>
            </a:r>
          </a:p>
          <a:p>
            <a:endParaRPr lang="en-IN" dirty="0">
              <a:solidFill>
                <a:schemeClr val="bg1"/>
              </a:solidFill>
            </a:endParaRPr>
          </a:p>
        </p:txBody>
      </p:sp>
    </p:spTree>
    <p:extLst>
      <p:ext uri="{BB962C8B-B14F-4D97-AF65-F5344CB8AC3E}">
        <p14:creationId xmlns:p14="http://schemas.microsoft.com/office/powerpoint/2010/main" val="96909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1493240" y="880844"/>
            <a:ext cx="7499758" cy="400110"/>
          </a:xfrm>
          <a:prstGeom prst="rect">
            <a:avLst/>
          </a:prstGeom>
          <a:noFill/>
        </p:spPr>
        <p:txBody>
          <a:bodyPr wrap="square" rtlCol="0">
            <a:spAutoFit/>
          </a:bodyPr>
          <a:lstStyle/>
          <a:p>
            <a:pPr algn="ctr"/>
            <a:r>
              <a:rPr lang="en-US" sz="2000" b="1" dirty="0">
                <a:solidFill>
                  <a:schemeClr val="accent2">
                    <a:lumMod val="60000"/>
                    <a:lumOff val="40000"/>
                  </a:schemeClr>
                </a:solidFill>
                <a:latin typeface="Arial Black" pitchFamily="34" charset="0"/>
              </a:rPr>
              <a:t>TOOLS &amp; TECHNOLOGIES USED</a:t>
            </a:r>
            <a:endParaRPr lang="en-IN" sz="2000" dirty="0">
              <a:solidFill>
                <a:schemeClr val="accent2">
                  <a:lumMod val="60000"/>
                  <a:lumOff val="40000"/>
                </a:schemeClr>
              </a:solidFill>
              <a:latin typeface="Arial Black" pitchFamily="34" charset="0"/>
            </a:endParaRPr>
          </a:p>
        </p:txBody>
      </p:sp>
      <p:sp>
        <p:nvSpPr>
          <p:cNvPr id="9" name="TextBox 8"/>
          <p:cNvSpPr txBox="1"/>
          <p:nvPr/>
        </p:nvSpPr>
        <p:spPr>
          <a:xfrm>
            <a:off x="360727" y="1879134"/>
            <a:ext cx="11266413" cy="3939540"/>
          </a:xfrm>
          <a:prstGeom prst="rect">
            <a:avLst/>
          </a:prstGeom>
          <a:noFill/>
        </p:spPr>
        <p:txBody>
          <a:bodyPr wrap="square" rtlCol="0">
            <a:spAutoFit/>
          </a:bodyPr>
          <a:lstStyle/>
          <a:p>
            <a:r>
              <a:rPr lang="en-IN" sz="3200" b="1" dirty="0">
                <a:solidFill>
                  <a:srgbClr val="FFFF00"/>
                </a:solidFill>
              </a:rPr>
              <a:t>Technology Stack</a:t>
            </a:r>
          </a:p>
          <a:p>
            <a:r>
              <a:rPr lang="en-IN" sz="2000" b="1" dirty="0">
                <a:solidFill>
                  <a:schemeClr val="accent4">
                    <a:lumMod val="60000"/>
                    <a:lumOff val="40000"/>
                  </a:schemeClr>
                </a:solidFill>
              </a:rPr>
              <a:t>Data Collection</a:t>
            </a:r>
            <a:br>
              <a:rPr lang="en-IN" sz="2000" dirty="0"/>
            </a:br>
            <a:r>
              <a:rPr lang="en-IN" sz="2000" dirty="0" err="1">
                <a:solidFill>
                  <a:schemeClr val="bg1"/>
                </a:solidFill>
              </a:rPr>
              <a:t>Kaggle</a:t>
            </a:r>
            <a:r>
              <a:rPr lang="en-IN" sz="2000" dirty="0">
                <a:solidFill>
                  <a:schemeClr val="bg1"/>
                </a:solidFill>
              </a:rPr>
              <a:t> datasets and SQL queries for acquiring real-world airfare data</a:t>
            </a:r>
          </a:p>
          <a:p>
            <a:r>
              <a:rPr lang="en-IN" sz="2000" b="1" dirty="0">
                <a:solidFill>
                  <a:schemeClr val="accent4">
                    <a:lumMod val="60000"/>
                    <a:lumOff val="40000"/>
                  </a:schemeClr>
                </a:solidFill>
              </a:rPr>
              <a:t>Data Processing</a:t>
            </a:r>
            <a:br>
              <a:rPr lang="en-IN" sz="2000" dirty="0"/>
            </a:br>
            <a:r>
              <a:rPr lang="en-IN" sz="2000" dirty="0">
                <a:solidFill>
                  <a:schemeClr val="bg1"/>
                </a:solidFill>
              </a:rPr>
              <a:t>Python (Pandas, </a:t>
            </a:r>
            <a:r>
              <a:rPr lang="en-IN" sz="2000" dirty="0" err="1">
                <a:solidFill>
                  <a:schemeClr val="bg1"/>
                </a:solidFill>
              </a:rPr>
              <a:t>NumPy</a:t>
            </a:r>
            <a:r>
              <a:rPr lang="en-IN" sz="2000" dirty="0">
                <a:solidFill>
                  <a:schemeClr val="bg1"/>
                </a:solidFill>
              </a:rPr>
              <a:t>) and SQL (MySQL / </a:t>
            </a:r>
            <a:r>
              <a:rPr lang="en-IN" sz="2000" dirty="0" err="1">
                <a:solidFill>
                  <a:schemeClr val="bg1"/>
                </a:solidFill>
              </a:rPr>
              <a:t>PostgreSQL</a:t>
            </a:r>
            <a:r>
              <a:rPr lang="en-IN" sz="2000" dirty="0">
                <a:solidFill>
                  <a:schemeClr val="bg1"/>
                </a:solidFill>
              </a:rPr>
              <a:t>) for data cleaning and transformation</a:t>
            </a:r>
          </a:p>
          <a:p>
            <a:r>
              <a:rPr lang="en-IN" sz="2000" b="1" dirty="0">
                <a:solidFill>
                  <a:schemeClr val="accent4">
                    <a:lumMod val="60000"/>
                    <a:lumOff val="40000"/>
                  </a:schemeClr>
                </a:solidFill>
              </a:rPr>
              <a:t>Visualization</a:t>
            </a:r>
            <a:br>
              <a:rPr lang="en-IN" sz="2000" dirty="0"/>
            </a:br>
            <a:r>
              <a:rPr lang="en-IN" sz="2000" dirty="0" err="1">
                <a:solidFill>
                  <a:schemeClr val="bg1"/>
                </a:solidFill>
              </a:rPr>
              <a:t>Matplotlib</a:t>
            </a:r>
            <a:r>
              <a:rPr lang="en-IN" sz="2000" dirty="0">
                <a:solidFill>
                  <a:schemeClr val="bg1"/>
                </a:solidFill>
              </a:rPr>
              <a:t> and </a:t>
            </a:r>
            <a:r>
              <a:rPr lang="en-IN" sz="2000" dirty="0" err="1">
                <a:solidFill>
                  <a:schemeClr val="bg1"/>
                </a:solidFill>
              </a:rPr>
              <a:t>Seaborn</a:t>
            </a:r>
            <a:r>
              <a:rPr lang="en-IN" sz="2000" dirty="0">
                <a:solidFill>
                  <a:schemeClr val="bg1"/>
                </a:solidFill>
              </a:rPr>
              <a:t> for creating insightful graphs and charts</a:t>
            </a:r>
          </a:p>
          <a:p>
            <a:r>
              <a:rPr lang="en-IN" sz="2000" b="1" dirty="0">
                <a:solidFill>
                  <a:schemeClr val="accent4">
                    <a:lumMod val="60000"/>
                    <a:lumOff val="40000"/>
                  </a:schemeClr>
                </a:solidFill>
              </a:rPr>
              <a:t>Statistical / ML Tools</a:t>
            </a:r>
            <a:br>
              <a:rPr lang="en-IN" sz="2000" dirty="0">
                <a:solidFill>
                  <a:schemeClr val="accent4">
                    <a:lumMod val="60000"/>
                    <a:lumOff val="40000"/>
                  </a:schemeClr>
                </a:solidFill>
              </a:rPr>
            </a:br>
            <a:r>
              <a:rPr lang="en-IN" sz="2000" dirty="0" err="1">
                <a:solidFill>
                  <a:schemeClr val="bg1"/>
                </a:solidFill>
              </a:rPr>
              <a:t>SciPy</a:t>
            </a:r>
            <a:r>
              <a:rPr lang="en-IN" sz="2000" dirty="0">
                <a:solidFill>
                  <a:schemeClr val="bg1"/>
                </a:solidFill>
              </a:rPr>
              <a:t>, </a:t>
            </a:r>
            <a:r>
              <a:rPr lang="en-IN" sz="2000" dirty="0" err="1">
                <a:solidFill>
                  <a:schemeClr val="bg1"/>
                </a:solidFill>
              </a:rPr>
              <a:t>Statsmodels</a:t>
            </a:r>
            <a:r>
              <a:rPr lang="en-IN" sz="2000" dirty="0">
                <a:solidFill>
                  <a:schemeClr val="bg1"/>
                </a:solidFill>
              </a:rPr>
              <a:t>, and </a:t>
            </a:r>
            <a:r>
              <a:rPr lang="en-IN" sz="2000" dirty="0" err="1">
                <a:solidFill>
                  <a:schemeClr val="bg1"/>
                </a:solidFill>
              </a:rPr>
              <a:t>Scikit</a:t>
            </a:r>
            <a:r>
              <a:rPr lang="en-IN" sz="2000" dirty="0">
                <a:solidFill>
                  <a:schemeClr val="bg1"/>
                </a:solidFill>
              </a:rPr>
              <a:t>-learn for analysis and </a:t>
            </a:r>
            <a:r>
              <a:rPr lang="en-IN" sz="2000" dirty="0" err="1">
                <a:solidFill>
                  <a:schemeClr val="bg1"/>
                </a:solidFill>
              </a:rPr>
              <a:t>modeling</a:t>
            </a:r>
            <a:endParaRPr lang="en-IN" sz="2000" dirty="0">
              <a:solidFill>
                <a:schemeClr val="bg1"/>
              </a:solidFill>
            </a:endParaRPr>
          </a:p>
          <a:p>
            <a:r>
              <a:rPr lang="en-IN" sz="2000" b="1" dirty="0">
                <a:solidFill>
                  <a:schemeClr val="accent4">
                    <a:lumMod val="60000"/>
                    <a:lumOff val="40000"/>
                  </a:schemeClr>
                </a:solidFill>
              </a:rPr>
              <a:t>Documentation &amp; Reporting</a:t>
            </a:r>
            <a:br>
              <a:rPr lang="en-IN" sz="2000" dirty="0"/>
            </a:br>
            <a:r>
              <a:rPr lang="en-IN" sz="2000" dirty="0" err="1">
                <a:solidFill>
                  <a:schemeClr val="bg1"/>
                </a:solidFill>
              </a:rPr>
              <a:t>Jupyter</a:t>
            </a:r>
            <a:r>
              <a:rPr lang="en-IN" sz="2000" dirty="0">
                <a:solidFill>
                  <a:schemeClr val="bg1"/>
                </a:solidFill>
              </a:rPr>
              <a:t> Notebook and MS Word for analysis documentation and final reporting</a:t>
            </a:r>
          </a:p>
          <a:p>
            <a:endParaRPr lang="en-IN" sz="2000" dirty="0">
              <a:solidFill>
                <a:schemeClr val="bg1"/>
              </a:solidFill>
            </a:endParaRPr>
          </a:p>
        </p:txBody>
      </p:sp>
    </p:spTree>
    <p:extLst>
      <p:ext uri="{BB962C8B-B14F-4D97-AF65-F5344CB8AC3E}">
        <p14:creationId xmlns:p14="http://schemas.microsoft.com/office/powerpoint/2010/main" val="3172062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1493240" y="880844"/>
            <a:ext cx="7499758" cy="523220"/>
          </a:xfrm>
          <a:prstGeom prst="rect">
            <a:avLst/>
          </a:prstGeom>
          <a:noFill/>
        </p:spPr>
        <p:txBody>
          <a:bodyPr wrap="square" rtlCol="0">
            <a:spAutoFit/>
          </a:bodyPr>
          <a:lstStyle/>
          <a:p>
            <a:pPr algn="ctr"/>
            <a:r>
              <a:rPr lang="en-US" sz="2800" b="1" dirty="0">
                <a:solidFill>
                  <a:srgbClr val="FFC000"/>
                </a:solidFill>
              </a:rPr>
              <a:t>DATA SOURCES</a:t>
            </a:r>
            <a:endParaRPr lang="en-IN" sz="2800" dirty="0">
              <a:solidFill>
                <a:srgbClr val="FFC000"/>
              </a:solidFill>
              <a:latin typeface="Arial Black" pitchFamily="34" charset="0"/>
            </a:endParaRPr>
          </a:p>
        </p:txBody>
      </p:sp>
      <p:sp>
        <p:nvSpPr>
          <p:cNvPr id="9" name="TextBox 8"/>
          <p:cNvSpPr txBox="1"/>
          <p:nvPr/>
        </p:nvSpPr>
        <p:spPr>
          <a:xfrm>
            <a:off x="360727" y="1879134"/>
            <a:ext cx="11266413" cy="3477875"/>
          </a:xfrm>
          <a:prstGeom prst="rect">
            <a:avLst/>
          </a:prstGeom>
          <a:noFill/>
        </p:spPr>
        <p:txBody>
          <a:bodyPr wrap="square" rtlCol="0">
            <a:spAutoFit/>
          </a:bodyPr>
          <a:lstStyle/>
          <a:p>
            <a:r>
              <a:rPr lang="en-IN" sz="2000" b="1" dirty="0">
                <a:solidFill>
                  <a:srgbClr val="FFFF00"/>
                </a:solidFill>
              </a:rPr>
              <a:t>Datasets Used in This Project</a:t>
            </a:r>
          </a:p>
          <a:p>
            <a:endParaRPr lang="en-IN" sz="2000" b="1" dirty="0">
              <a:solidFill>
                <a:srgbClr val="C00000"/>
              </a:solidFill>
            </a:endParaRPr>
          </a:p>
          <a:p>
            <a:r>
              <a:rPr lang="en-IN" sz="2000" b="1" dirty="0">
                <a:solidFill>
                  <a:schemeClr val="accent2">
                    <a:lumMod val="60000"/>
                    <a:lumOff val="40000"/>
                  </a:schemeClr>
                </a:solidFill>
              </a:rPr>
              <a:t>Dataset 1: </a:t>
            </a:r>
            <a:r>
              <a:rPr lang="en-IN" sz="2000" dirty="0">
                <a:solidFill>
                  <a:schemeClr val="bg1"/>
                </a:solidFill>
              </a:rPr>
              <a:t>Airfare Economy Class Dataset</a:t>
            </a:r>
            <a:br>
              <a:rPr lang="en-IN" sz="2000" dirty="0">
                <a:solidFill>
                  <a:schemeClr val="bg1"/>
                </a:solidFill>
              </a:rPr>
            </a:br>
            <a:r>
              <a:rPr lang="en-IN" sz="2000" b="1" dirty="0">
                <a:solidFill>
                  <a:schemeClr val="accent2">
                    <a:lumMod val="60000"/>
                    <a:lumOff val="40000"/>
                  </a:schemeClr>
                </a:solidFill>
              </a:rPr>
              <a:t>Source:</a:t>
            </a:r>
            <a:r>
              <a:rPr lang="en-IN" sz="2000" dirty="0">
                <a:solidFill>
                  <a:schemeClr val="accent2">
                    <a:lumMod val="60000"/>
                    <a:lumOff val="40000"/>
                  </a:schemeClr>
                </a:solidFill>
              </a:rPr>
              <a:t> </a:t>
            </a:r>
            <a:r>
              <a:rPr lang="en-IN" sz="2000" dirty="0" err="1">
                <a:solidFill>
                  <a:schemeClr val="bg1"/>
                </a:solidFill>
              </a:rPr>
              <a:t>Kaggle</a:t>
            </a:r>
            <a:br>
              <a:rPr lang="en-IN" sz="2000" dirty="0">
                <a:solidFill>
                  <a:schemeClr val="bg1"/>
                </a:solidFill>
              </a:rPr>
            </a:br>
            <a:r>
              <a:rPr lang="en-IN" sz="2000" b="1" dirty="0">
                <a:solidFill>
                  <a:schemeClr val="accent2">
                    <a:lumMod val="60000"/>
                    <a:lumOff val="40000"/>
                  </a:schemeClr>
                </a:solidFill>
              </a:rPr>
              <a:t>Format:</a:t>
            </a:r>
            <a:r>
              <a:rPr lang="en-IN" sz="2000" dirty="0">
                <a:solidFill>
                  <a:schemeClr val="accent2">
                    <a:lumMod val="60000"/>
                    <a:lumOff val="40000"/>
                  </a:schemeClr>
                </a:solidFill>
              </a:rPr>
              <a:t> </a:t>
            </a:r>
            <a:r>
              <a:rPr lang="en-IN" sz="2000" dirty="0">
                <a:solidFill>
                  <a:schemeClr val="bg1"/>
                </a:solidFill>
              </a:rPr>
              <a:t>CSV</a:t>
            </a:r>
            <a:br>
              <a:rPr lang="en-IN" sz="2000" dirty="0">
                <a:solidFill>
                  <a:schemeClr val="bg1"/>
                </a:solidFill>
              </a:rPr>
            </a:br>
            <a:r>
              <a:rPr lang="en-IN" sz="2000" b="1" dirty="0">
                <a:solidFill>
                  <a:schemeClr val="accent2">
                    <a:lumMod val="60000"/>
                    <a:lumOff val="40000"/>
                  </a:schemeClr>
                </a:solidFill>
              </a:rPr>
              <a:t>Size:</a:t>
            </a:r>
            <a:r>
              <a:rPr lang="en-IN" sz="2000" dirty="0">
                <a:solidFill>
                  <a:schemeClr val="accent2">
                    <a:lumMod val="60000"/>
                    <a:lumOff val="40000"/>
                  </a:schemeClr>
                </a:solidFill>
              </a:rPr>
              <a:t> </a:t>
            </a:r>
            <a:r>
              <a:rPr lang="en-IN" sz="2000" dirty="0">
                <a:solidFill>
                  <a:schemeClr val="bg1"/>
                </a:solidFill>
              </a:rPr>
              <a:t>20000</a:t>
            </a:r>
          </a:p>
          <a:p>
            <a:endParaRPr lang="en-IN" sz="2000" b="1" dirty="0">
              <a:solidFill>
                <a:schemeClr val="bg1"/>
              </a:solidFill>
            </a:endParaRPr>
          </a:p>
          <a:p>
            <a:r>
              <a:rPr lang="en-IN" sz="2000" b="1" dirty="0">
                <a:solidFill>
                  <a:schemeClr val="accent2">
                    <a:lumMod val="60000"/>
                    <a:lumOff val="40000"/>
                  </a:schemeClr>
                </a:solidFill>
              </a:rPr>
              <a:t>Dataset 2:</a:t>
            </a:r>
            <a:r>
              <a:rPr lang="en-IN" sz="2000" dirty="0">
                <a:solidFill>
                  <a:schemeClr val="accent2">
                    <a:lumMod val="60000"/>
                    <a:lumOff val="40000"/>
                  </a:schemeClr>
                </a:solidFill>
              </a:rPr>
              <a:t> </a:t>
            </a:r>
            <a:r>
              <a:rPr lang="en-IN" sz="2000" dirty="0">
                <a:solidFill>
                  <a:schemeClr val="bg1"/>
                </a:solidFill>
              </a:rPr>
              <a:t>Airfare Business Class Dataset</a:t>
            </a:r>
            <a:br>
              <a:rPr lang="en-IN" sz="2000" dirty="0">
                <a:solidFill>
                  <a:schemeClr val="bg1"/>
                </a:solidFill>
              </a:rPr>
            </a:br>
            <a:r>
              <a:rPr lang="en-IN" sz="2000" b="1" dirty="0">
                <a:solidFill>
                  <a:schemeClr val="accent2">
                    <a:lumMod val="60000"/>
                    <a:lumOff val="40000"/>
                  </a:schemeClr>
                </a:solidFill>
              </a:rPr>
              <a:t>Source:</a:t>
            </a:r>
            <a:r>
              <a:rPr lang="en-IN" sz="2000" dirty="0">
                <a:solidFill>
                  <a:schemeClr val="accent2">
                    <a:lumMod val="60000"/>
                    <a:lumOff val="40000"/>
                  </a:schemeClr>
                </a:solidFill>
              </a:rPr>
              <a:t> </a:t>
            </a:r>
            <a:r>
              <a:rPr lang="en-IN" sz="2000" dirty="0" err="1">
                <a:solidFill>
                  <a:schemeClr val="bg1"/>
                </a:solidFill>
              </a:rPr>
              <a:t>Kaggle</a:t>
            </a:r>
            <a:br>
              <a:rPr lang="en-IN" sz="2000" dirty="0">
                <a:solidFill>
                  <a:schemeClr val="bg1"/>
                </a:solidFill>
              </a:rPr>
            </a:br>
            <a:r>
              <a:rPr lang="en-IN" sz="2000" b="1" dirty="0">
                <a:solidFill>
                  <a:schemeClr val="accent2">
                    <a:lumMod val="60000"/>
                    <a:lumOff val="40000"/>
                  </a:schemeClr>
                </a:solidFill>
              </a:rPr>
              <a:t>Format:</a:t>
            </a:r>
            <a:r>
              <a:rPr lang="en-IN" sz="2000" dirty="0">
                <a:solidFill>
                  <a:schemeClr val="accent2">
                    <a:lumMod val="60000"/>
                    <a:lumOff val="40000"/>
                  </a:schemeClr>
                </a:solidFill>
              </a:rPr>
              <a:t> </a:t>
            </a:r>
            <a:r>
              <a:rPr lang="en-IN" sz="2000" dirty="0">
                <a:solidFill>
                  <a:schemeClr val="bg1"/>
                </a:solidFill>
              </a:rPr>
              <a:t>CSV</a:t>
            </a:r>
            <a:br>
              <a:rPr lang="en-IN" sz="2000" dirty="0">
                <a:solidFill>
                  <a:schemeClr val="bg1"/>
                </a:solidFill>
              </a:rPr>
            </a:br>
            <a:r>
              <a:rPr lang="en-IN" sz="2000" b="1" dirty="0">
                <a:solidFill>
                  <a:schemeClr val="accent2">
                    <a:lumMod val="60000"/>
                    <a:lumOff val="40000"/>
                  </a:schemeClr>
                </a:solidFill>
              </a:rPr>
              <a:t>Size: </a:t>
            </a:r>
            <a:r>
              <a:rPr lang="en-IN" sz="2000" b="1" dirty="0">
                <a:solidFill>
                  <a:schemeClr val="bg1"/>
                </a:solidFill>
              </a:rPr>
              <a:t>20000</a:t>
            </a:r>
            <a:endParaRPr lang="en-IN" sz="2000" dirty="0">
              <a:solidFill>
                <a:schemeClr val="bg1"/>
              </a:solidFill>
            </a:endParaRPr>
          </a:p>
        </p:txBody>
      </p:sp>
    </p:spTree>
    <p:extLst>
      <p:ext uri="{BB962C8B-B14F-4D97-AF65-F5344CB8AC3E}">
        <p14:creationId xmlns:p14="http://schemas.microsoft.com/office/powerpoint/2010/main" val="895195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1493240" y="880844"/>
            <a:ext cx="7499758" cy="523220"/>
          </a:xfrm>
          <a:prstGeom prst="rect">
            <a:avLst/>
          </a:prstGeom>
          <a:noFill/>
        </p:spPr>
        <p:txBody>
          <a:bodyPr wrap="square" rtlCol="0">
            <a:spAutoFit/>
          </a:bodyPr>
          <a:lstStyle/>
          <a:p>
            <a:pPr algn="ctr"/>
            <a:r>
              <a:rPr lang="en-US" sz="2800" b="1" dirty="0">
                <a:solidFill>
                  <a:srgbClr val="FFC000"/>
                </a:solidFill>
              </a:rPr>
              <a:t>DATA SOURCES</a:t>
            </a:r>
            <a:endParaRPr lang="en-IN" sz="2800" dirty="0">
              <a:solidFill>
                <a:srgbClr val="FFC000"/>
              </a:solidFill>
              <a:latin typeface="Arial Black" pitchFamily="34" charset="0"/>
            </a:endParaRPr>
          </a:p>
        </p:txBody>
      </p:sp>
      <p:sp>
        <p:nvSpPr>
          <p:cNvPr id="9" name="TextBox 8"/>
          <p:cNvSpPr txBox="1"/>
          <p:nvPr/>
        </p:nvSpPr>
        <p:spPr>
          <a:xfrm>
            <a:off x="360727" y="1879134"/>
            <a:ext cx="11266413" cy="3477875"/>
          </a:xfrm>
          <a:prstGeom prst="rect">
            <a:avLst/>
          </a:prstGeom>
          <a:noFill/>
        </p:spPr>
        <p:txBody>
          <a:bodyPr wrap="square" rtlCol="0">
            <a:spAutoFit/>
          </a:bodyPr>
          <a:lstStyle/>
          <a:p>
            <a:r>
              <a:rPr lang="en-IN" sz="2000" b="1" dirty="0">
                <a:solidFill>
                  <a:srgbClr val="FFC000"/>
                </a:solidFill>
              </a:rPr>
              <a:t>Key Features / Columns</a:t>
            </a:r>
            <a:br>
              <a:rPr lang="en-IN" sz="2000" dirty="0">
                <a:solidFill>
                  <a:schemeClr val="bg1"/>
                </a:solidFill>
              </a:rPr>
            </a:br>
            <a:r>
              <a:rPr lang="en-IN" sz="2000" dirty="0">
                <a:solidFill>
                  <a:schemeClr val="bg1"/>
                </a:solidFill>
              </a:rPr>
              <a:t>Airline, Source City, Destination City, Departure Time, Arrival Time, Duration, Number of Stops, Class Type, Ticket Price</a:t>
            </a:r>
          </a:p>
          <a:p>
            <a:endParaRPr lang="en-IN" sz="2000" dirty="0">
              <a:solidFill>
                <a:schemeClr val="bg1"/>
              </a:solidFill>
            </a:endParaRPr>
          </a:p>
          <a:p>
            <a:r>
              <a:rPr lang="en-IN" sz="2000" b="1" dirty="0">
                <a:solidFill>
                  <a:srgbClr val="FFC000"/>
                </a:solidFill>
              </a:rPr>
              <a:t>Licensing</a:t>
            </a:r>
            <a:br>
              <a:rPr lang="en-IN" sz="2000" dirty="0">
                <a:solidFill>
                  <a:schemeClr val="bg1"/>
                </a:solidFill>
              </a:rPr>
            </a:br>
            <a:r>
              <a:rPr lang="en-IN" sz="2000" dirty="0">
                <a:solidFill>
                  <a:schemeClr val="bg1"/>
                </a:solidFill>
              </a:rPr>
              <a:t>Publicly available dataset (</a:t>
            </a:r>
            <a:r>
              <a:rPr lang="en-IN" sz="2000" dirty="0" err="1">
                <a:solidFill>
                  <a:schemeClr val="bg1"/>
                </a:solidFill>
              </a:rPr>
              <a:t>Kaggle</a:t>
            </a:r>
            <a:r>
              <a:rPr lang="en-IN" sz="2000" dirty="0">
                <a:solidFill>
                  <a:schemeClr val="bg1"/>
                </a:solidFill>
              </a:rPr>
              <a:t> – open use for analysis and learning)</a:t>
            </a:r>
          </a:p>
          <a:p>
            <a:endParaRPr lang="en-IN" sz="2000" dirty="0">
              <a:solidFill>
                <a:schemeClr val="bg1"/>
              </a:solidFill>
            </a:endParaRPr>
          </a:p>
          <a:p>
            <a:r>
              <a:rPr lang="en-IN" sz="2000" b="1" dirty="0">
                <a:solidFill>
                  <a:srgbClr val="FFC000"/>
                </a:solidFill>
              </a:rPr>
              <a:t>Data Quality Notes</a:t>
            </a:r>
            <a:endParaRPr lang="en-IN" sz="2000" dirty="0">
              <a:solidFill>
                <a:srgbClr val="FFC000"/>
              </a:solidFill>
            </a:endParaRPr>
          </a:p>
          <a:p>
            <a:r>
              <a:rPr lang="en-IN" sz="2000" dirty="0">
                <a:solidFill>
                  <a:schemeClr val="bg1"/>
                </a:solidFill>
              </a:rPr>
              <a:t>Data is </a:t>
            </a:r>
            <a:r>
              <a:rPr lang="en-IN" sz="2000" b="1" dirty="0">
                <a:solidFill>
                  <a:schemeClr val="bg1"/>
                </a:solidFill>
              </a:rPr>
              <a:t>mostly complete and structured</a:t>
            </a:r>
            <a:r>
              <a:rPr lang="en-IN" sz="2000" dirty="0">
                <a:solidFill>
                  <a:schemeClr val="bg1"/>
                </a:solidFill>
              </a:rPr>
              <a:t> </a:t>
            </a:r>
          </a:p>
          <a:p>
            <a:r>
              <a:rPr lang="en-IN" sz="2000" dirty="0">
                <a:solidFill>
                  <a:schemeClr val="bg1"/>
                </a:solidFill>
              </a:rPr>
              <a:t>Minor </a:t>
            </a:r>
            <a:r>
              <a:rPr lang="en-IN" sz="2000" dirty="0" err="1">
                <a:solidFill>
                  <a:schemeClr val="bg1"/>
                </a:solidFill>
              </a:rPr>
              <a:t>preprocessing</a:t>
            </a:r>
            <a:r>
              <a:rPr lang="en-IN" sz="2000" dirty="0">
                <a:solidFill>
                  <a:schemeClr val="bg1"/>
                </a:solidFill>
              </a:rPr>
              <a:t> required (handling missing values, formatting) </a:t>
            </a:r>
          </a:p>
          <a:p>
            <a:r>
              <a:rPr lang="en-IN" sz="2000" dirty="0">
                <a:solidFill>
                  <a:schemeClr val="bg1"/>
                </a:solidFill>
              </a:rPr>
              <a:t>Reliable for </a:t>
            </a:r>
            <a:r>
              <a:rPr lang="en-IN" sz="2000" b="1" dirty="0">
                <a:solidFill>
                  <a:schemeClr val="bg1"/>
                </a:solidFill>
              </a:rPr>
              <a:t>exploratory analysis and visualization</a:t>
            </a:r>
            <a:endParaRPr lang="en-IN" sz="2000" dirty="0">
              <a:solidFill>
                <a:schemeClr val="bg1"/>
              </a:solidFill>
            </a:endParaRPr>
          </a:p>
        </p:txBody>
      </p:sp>
    </p:spTree>
    <p:extLst>
      <p:ext uri="{BB962C8B-B14F-4D97-AF65-F5344CB8AC3E}">
        <p14:creationId xmlns:p14="http://schemas.microsoft.com/office/powerpoint/2010/main" val="447306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1493240" y="880844"/>
            <a:ext cx="7499758" cy="523220"/>
          </a:xfrm>
          <a:prstGeom prst="rect">
            <a:avLst/>
          </a:prstGeom>
          <a:noFill/>
        </p:spPr>
        <p:txBody>
          <a:bodyPr wrap="square" rtlCol="0">
            <a:spAutoFit/>
          </a:bodyPr>
          <a:lstStyle/>
          <a:p>
            <a:pPr algn="ctr"/>
            <a:r>
              <a:rPr lang="en-US" sz="2800" b="1" dirty="0">
                <a:solidFill>
                  <a:srgbClr val="FFC000"/>
                </a:solidFill>
              </a:rPr>
              <a:t>ER DIAGRAM / DATA SCHEMA</a:t>
            </a:r>
            <a:endParaRPr lang="en-IN" sz="2800" dirty="0">
              <a:solidFill>
                <a:srgbClr val="FFC000"/>
              </a:solidFill>
              <a:latin typeface="Arial Black" pitchFamily="34" charset="0"/>
            </a:endParaRPr>
          </a:p>
        </p:txBody>
      </p:sp>
      <p:pic>
        <p:nvPicPr>
          <p:cNvPr id="10"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6010" y="1527174"/>
            <a:ext cx="10336159" cy="5074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829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275127" y="813732"/>
            <a:ext cx="7592036" cy="400110"/>
          </a:xfrm>
          <a:prstGeom prst="rect">
            <a:avLst/>
          </a:prstGeom>
          <a:noFill/>
        </p:spPr>
        <p:txBody>
          <a:bodyPr wrap="square" rtlCol="0">
            <a:spAutoFit/>
          </a:bodyPr>
          <a:lstStyle/>
          <a:p>
            <a:pPr algn="ctr"/>
            <a:r>
              <a:rPr lang="en-US" sz="2000" b="1" dirty="0">
                <a:solidFill>
                  <a:srgbClr val="FFC000"/>
                </a:solidFill>
              </a:rPr>
              <a:t>DATA CLEANING &amp; PREPROCESSING</a:t>
            </a:r>
            <a:endParaRPr lang="en-IN" sz="2000" dirty="0">
              <a:solidFill>
                <a:srgbClr val="FFC000"/>
              </a:solidFill>
            </a:endParaRPr>
          </a:p>
        </p:txBody>
      </p:sp>
      <p:sp>
        <p:nvSpPr>
          <p:cNvPr id="8" name="TextBox 7"/>
          <p:cNvSpPr txBox="1"/>
          <p:nvPr/>
        </p:nvSpPr>
        <p:spPr>
          <a:xfrm>
            <a:off x="285226" y="1803633"/>
            <a:ext cx="11803310" cy="4524315"/>
          </a:xfrm>
          <a:prstGeom prst="rect">
            <a:avLst/>
          </a:prstGeom>
          <a:noFill/>
        </p:spPr>
        <p:txBody>
          <a:bodyPr wrap="square" rtlCol="0">
            <a:spAutoFit/>
          </a:bodyPr>
          <a:lstStyle/>
          <a:p>
            <a:pPr marL="571500" indent="-571500">
              <a:buFont typeface="+mj-lt"/>
              <a:buAutoNum type="romanUcPeriod"/>
            </a:pPr>
            <a:r>
              <a:rPr lang="en-US" b="1" dirty="0">
                <a:solidFill>
                  <a:srgbClr val="FFFF00"/>
                </a:solidFill>
              </a:rPr>
              <a:t>Missing Values</a:t>
            </a:r>
            <a:br>
              <a:rPr lang="en-US" dirty="0">
                <a:solidFill>
                  <a:schemeClr val="bg1"/>
                </a:solidFill>
              </a:rPr>
            </a:br>
            <a:r>
              <a:rPr lang="en-US" dirty="0">
                <a:solidFill>
                  <a:schemeClr val="bg1"/>
                </a:solidFill>
              </a:rPr>
              <a:t>Identified missing values in key columns and handled them using </a:t>
            </a:r>
            <a:r>
              <a:rPr lang="en-US" b="1" dirty="0">
                <a:solidFill>
                  <a:schemeClr val="bg1"/>
                </a:solidFill>
              </a:rPr>
              <a:t>removal and appropriate imputation techniques</a:t>
            </a:r>
            <a:r>
              <a:rPr lang="en-US" dirty="0">
                <a:solidFill>
                  <a:schemeClr val="bg1"/>
                </a:solidFill>
              </a:rPr>
              <a:t> to maintain data quality</a:t>
            </a:r>
          </a:p>
          <a:p>
            <a:pPr marL="571500" indent="-571500">
              <a:buFont typeface="+mj-lt"/>
              <a:buAutoNum type="romanUcPeriod"/>
            </a:pPr>
            <a:r>
              <a:rPr lang="en-US" b="1" dirty="0">
                <a:solidFill>
                  <a:srgbClr val="FFFF00"/>
                </a:solidFill>
              </a:rPr>
              <a:t>Duplicate Rows</a:t>
            </a:r>
            <a:br>
              <a:rPr lang="en-US" dirty="0">
                <a:solidFill>
                  <a:schemeClr val="bg1"/>
                </a:solidFill>
              </a:rPr>
            </a:br>
            <a:r>
              <a:rPr lang="en-US" dirty="0">
                <a:solidFill>
                  <a:schemeClr val="bg1"/>
                </a:solidFill>
              </a:rPr>
              <a:t>Checked for duplicate records and removed them to ensure </a:t>
            </a:r>
            <a:r>
              <a:rPr lang="en-US" b="1" dirty="0">
                <a:solidFill>
                  <a:schemeClr val="bg1"/>
                </a:solidFill>
              </a:rPr>
              <a:t>data consistency and accuracy</a:t>
            </a:r>
            <a:endParaRPr lang="en-US" dirty="0">
              <a:solidFill>
                <a:schemeClr val="bg1"/>
              </a:solidFill>
            </a:endParaRPr>
          </a:p>
          <a:p>
            <a:pPr marL="571500" indent="-571500">
              <a:buFont typeface="+mj-lt"/>
              <a:buAutoNum type="romanUcPeriod"/>
            </a:pPr>
            <a:r>
              <a:rPr lang="en-US" b="1" dirty="0">
                <a:solidFill>
                  <a:srgbClr val="FFFF00"/>
                </a:solidFill>
              </a:rPr>
              <a:t>Data Type Corrections</a:t>
            </a:r>
            <a:br>
              <a:rPr lang="en-US" dirty="0">
                <a:solidFill>
                  <a:schemeClr val="bg1"/>
                </a:solidFill>
              </a:rPr>
            </a:br>
            <a:r>
              <a:rPr lang="en-US" dirty="0">
                <a:solidFill>
                  <a:schemeClr val="bg1"/>
                </a:solidFill>
              </a:rPr>
              <a:t>Converted columns such as </a:t>
            </a:r>
            <a:r>
              <a:rPr lang="en-US" b="1" dirty="0">
                <a:solidFill>
                  <a:schemeClr val="bg1"/>
                </a:solidFill>
              </a:rPr>
              <a:t>date/time fields into proper </a:t>
            </a:r>
            <a:r>
              <a:rPr lang="en-US" b="1" dirty="0" err="1">
                <a:solidFill>
                  <a:schemeClr val="bg1"/>
                </a:solidFill>
              </a:rPr>
              <a:t>datetime</a:t>
            </a:r>
            <a:r>
              <a:rPr lang="en-US" b="1" dirty="0">
                <a:solidFill>
                  <a:schemeClr val="bg1"/>
                </a:solidFill>
              </a:rPr>
              <a:t> format</a:t>
            </a:r>
            <a:r>
              <a:rPr lang="en-US" dirty="0">
                <a:solidFill>
                  <a:schemeClr val="bg1"/>
                </a:solidFill>
              </a:rPr>
              <a:t> and ensured correct data types for analysis</a:t>
            </a:r>
          </a:p>
          <a:p>
            <a:pPr marL="571500" indent="-571500">
              <a:buFont typeface="+mj-lt"/>
              <a:buAutoNum type="romanUcPeriod"/>
            </a:pPr>
            <a:r>
              <a:rPr lang="en-US" b="1" dirty="0">
                <a:solidFill>
                  <a:srgbClr val="FFFF00"/>
                </a:solidFill>
              </a:rPr>
              <a:t>Outlier Treatment</a:t>
            </a:r>
            <a:br>
              <a:rPr lang="en-US" dirty="0">
                <a:solidFill>
                  <a:schemeClr val="bg1"/>
                </a:solidFill>
              </a:rPr>
            </a:br>
            <a:r>
              <a:rPr lang="en-US" dirty="0">
                <a:solidFill>
                  <a:schemeClr val="bg1"/>
                </a:solidFill>
              </a:rPr>
              <a:t>Detected outliers in ticket prices using the </a:t>
            </a:r>
            <a:r>
              <a:rPr lang="en-US" b="1" dirty="0">
                <a:solidFill>
                  <a:schemeClr val="bg1"/>
                </a:solidFill>
              </a:rPr>
              <a:t>IQR method</a:t>
            </a:r>
            <a:r>
              <a:rPr lang="en-US" dirty="0">
                <a:solidFill>
                  <a:schemeClr val="bg1"/>
                </a:solidFill>
              </a:rPr>
              <a:t> and handled extreme values to avoid skewed analysis</a:t>
            </a:r>
          </a:p>
          <a:p>
            <a:pPr marL="571500" indent="-571500">
              <a:buFont typeface="+mj-lt"/>
              <a:buAutoNum type="romanUcPeriod"/>
            </a:pPr>
            <a:r>
              <a:rPr lang="en-US" b="1" dirty="0">
                <a:solidFill>
                  <a:srgbClr val="FFFF00"/>
                </a:solidFill>
              </a:rPr>
              <a:t>Feature Engineering</a:t>
            </a:r>
            <a:br>
              <a:rPr lang="en-US" dirty="0">
                <a:solidFill>
                  <a:schemeClr val="bg1"/>
                </a:solidFill>
              </a:rPr>
            </a:br>
            <a:r>
              <a:rPr lang="en-US" dirty="0">
                <a:solidFill>
                  <a:schemeClr val="bg1"/>
                </a:solidFill>
              </a:rPr>
              <a:t>Created new features such as </a:t>
            </a:r>
            <a:r>
              <a:rPr lang="en-US" b="1" dirty="0">
                <a:solidFill>
                  <a:schemeClr val="bg1"/>
                </a:solidFill>
              </a:rPr>
              <a:t>journey duration (in minutes), time categories, and stop categories</a:t>
            </a:r>
            <a:r>
              <a:rPr lang="en-US" dirty="0">
                <a:solidFill>
                  <a:schemeClr val="bg1"/>
                </a:solidFill>
              </a:rPr>
              <a:t> to enhance analysis</a:t>
            </a:r>
          </a:p>
          <a:p>
            <a:pPr marL="571500" indent="-571500">
              <a:buFont typeface="+mj-lt"/>
              <a:buAutoNum type="romanUcPeriod"/>
            </a:pPr>
            <a:r>
              <a:rPr lang="en-US" b="1" dirty="0">
                <a:solidFill>
                  <a:srgbClr val="FFFF00"/>
                </a:solidFill>
              </a:rPr>
              <a:t>Normalization / Scaling</a:t>
            </a:r>
            <a:br>
              <a:rPr lang="en-US" dirty="0">
                <a:solidFill>
                  <a:schemeClr val="bg1"/>
                </a:solidFill>
              </a:rPr>
            </a:br>
            <a:r>
              <a:rPr lang="en-US" dirty="0">
                <a:solidFill>
                  <a:schemeClr val="bg1"/>
                </a:solidFill>
              </a:rPr>
              <a:t>Applied scaling techniques where required to standardize numerical features for better modeling</a:t>
            </a:r>
          </a:p>
          <a:p>
            <a:pPr marL="571500" indent="-571500">
              <a:buFont typeface="+mj-lt"/>
              <a:buAutoNum type="romanUcPeriod"/>
            </a:pPr>
            <a:r>
              <a:rPr lang="en-US" b="1" dirty="0">
                <a:solidFill>
                  <a:srgbClr val="FFFF00"/>
                </a:solidFill>
              </a:rPr>
              <a:t>Final Dataset</a:t>
            </a:r>
            <a:br>
              <a:rPr lang="en-US" dirty="0">
                <a:solidFill>
                  <a:schemeClr val="bg1"/>
                </a:solidFill>
              </a:rPr>
            </a:br>
            <a:r>
              <a:rPr lang="en-US" dirty="0">
                <a:solidFill>
                  <a:schemeClr val="bg1"/>
                </a:solidFill>
              </a:rPr>
              <a:t>Cleaned and structured dataset ready for </a:t>
            </a:r>
            <a:r>
              <a:rPr lang="en-US" b="1" dirty="0">
                <a:solidFill>
                  <a:schemeClr val="bg1"/>
                </a:solidFill>
              </a:rPr>
              <a:t>EDA, visualization, and analysis</a:t>
            </a:r>
            <a:endParaRPr lang="en-US" dirty="0">
              <a:solidFill>
                <a:schemeClr val="bg1"/>
              </a:solidFill>
            </a:endParaRPr>
          </a:p>
          <a:p>
            <a:endParaRPr lang="en-IN" dirty="0">
              <a:solidFill>
                <a:schemeClr val="bg1"/>
              </a:solidFill>
            </a:endParaRPr>
          </a:p>
        </p:txBody>
      </p:sp>
    </p:spTree>
    <p:extLst>
      <p:ext uri="{BB962C8B-B14F-4D97-AF65-F5344CB8AC3E}">
        <p14:creationId xmlns:p14="http://schemas.microsoft.com/office/powerpoint/2010/main" val="345515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275127" y="813732"/>
            <a:ext cx="7592036" cy="461665"/>
          </a:xfrm>
          <a:prstGeom prst="rect">
            <a:avLst/>
          </a:prstGeom>
          <a:noFill/>
        </p:spPr>
        <p:txBody>
          <a:bodyPr wrap="square" rtlCol="0">
            <a:spAutoFit/>
          </a:bodyPr>
          <a:lstStyle/>
          <a:p>
            <a:pPr algn="ctr"/>
            <a:r>
              <a:rPr lang="en-US" sz="2400" b="1" dirty="0">
                <a:solidFill>
                  <a:srgbClr val="FFFF00"/>
                </a:solidFill>
              </a:rPr>
              <a:t>KEY ANALYTICAL QUESTIONS</a:t>
            </a:r>
            <a:endParaRPr lang="en-IN" sz="2400" dirty="0">
              <a:solidFill>
                <a:srgbClr val="FFFF00"/>
              </a:solidFill>
            </a:endParaRPr>
          </a:p>
        </p:txBody>
      </p:sp>
      <p:sp>
        <p:nvSpPr>
          <p:cNvPr id="3" name="TextBox 2"/>
          <p:cNvSpPr txBox="1"/>
          <p:nvPr/>
        </p:nvSpPr>
        <p:spPr>
          <a:xfrm>
            <a:off x="260059" y="1828800"/>
            <a:ext cx="8943089" cy="2585323"/>
          </a:xfrm>
          <a:prstGeom prst="rect">
            <a:avLst/>
          </a:prstGeom>
          <a:noFill/>
        </p:spPr>
        <p:txBody>
          <a:bodyPr wrap="none" rtlCol="0">
            <a:spAutoFit/>
          </a:bodyPr>
          <a:lstStyle/>
          <a:p>
            <a:r>
              <a:rPr lang="en-US" sz="2400" b="1" dirty="0">
                <a:solidFill>
                  <a:schemeClr val="accent5">
                    <a:lumMod val="20000"/>
                    <a:lumOff val="80000"/>
                  </a:schemeClr>
                </a:solidFill>
              </a:rPr>
              <a:t>Q1. What are the major trends in airfare prices over time?</a:t>
            </a:r>
            <a:br>
              <a:rPr lang="en-US" sz="2400" dirty="0">
                <a:solidFill>
                  <a:schemeClr val="accent5">
                    <a:lumMod val="20000"/>
                    <a:lumOff val="80000"/>
                  </a:schemeClr>
                </a:solidFill>
              </a:rPr>
            </a:br>
            <a:r>
              <a:rPr lang="en-US" sz="2400" b="1" dirty="0">
                <a:solidFill>
                  <a:schemeClr val="accent5">
                    <a:lumMod val="20000"/>
                    <a:lumOff val="80000"/>
                  </a:schemeClr>
                </a:solidFill>
              </a:rPr>
              <a:t>Q2. Which factors contribute most to ticket price variation?</a:t>
            </a:r>
            <a:endParaRPr lang="en-US" sz="2400" dirty="0">
              <a:solidFill>
                <a:schemeClr val="accent5">
                  <a:lumMod val="20000"/>
                  <a:lumOff val="80000"/>
                </a:schemeClr>
              </a:solidFill>
            </a:endParaRPr>
          </a:p>
          <a:p>
            <a:r>
              <a:rPr lang="en-US" sz="2400" b="1" dirty="0">
                <a:solidFill>
                  <a:schemeClr val="accent5">
                    <a:lumMod val="20000"/>
                    <a:lumOff val="80000"/>
                  </a:schemeClr>
                </a:solidFill>
              </a:rPr>
              <a:t>Q3. Is there a correlation between journey duration and ticket price?</a:t>
            </a:r>
            <a:br>
              <a:rPr lang="en-US" sz="2400" dirty="0">
                <a:solidFill>
                  <a:schemeClr val="accent5">
                    <a:lumMod val="20000"/>
                    <a:lumOff val="80000"/>
                  </a:schemeClr>
                </a:solidFill>
              </a:rPr>
            </a:br>
            <a:r>
              <a:rPr lang="en-US" sz="2400" b="1" dirty="0">
                <a:solidFill>
                  <a:schemeClr val="accent5">
                    <a:lumMod val="20000"/>
                    <a:lumOff val="80000"/>
                  </a:schemeClr>
                </a:solidFill>
              </a:rPr>
              <a:t>Q4. What patterns exist across routes and travel conditions?</a:t>
            </a:r>
            <a:br>
              <a:rPr lang="en-US" sz="2400" dirty="0">
                <a:solidFill>
                  <a:schemeClr val="accent5">
                    <a:lumMod val="20000"/>
                    <a:lumOff val="80000"/>
                  </a:schemeClr>
                </a:solidFill>
              </a:rPr>
            </a:br>
            <a:r>
              <a:rPr lang="en-US" sz="2400" b="1" dirty="0">
                <a:solidFill>
                  <a:schemeClr val="accent5">
                    <a:lumMod val="20000"/>
                    <a:lumOff val="80000"/>
                  </a:schemeClr>
                </a:solidFill>
              </a:rPr>
              <a:t>Q5. Can ticket prices be predicted using historical data?</a:t>
            </a:r>
            <a:br>
              <a:rPr lang="en-US" sz="2400" dirty="0">
                <a:solidFill>
                  <a:schemeClr val="accent5">
                    <a:lumMod val="20000"/>
                    <a:lumOff val="80000"/>
                  </a:schemeClr>
                </a:solidFill>
              </a:rPr>
            </a:br>
            <a:endParaRPr lang="en-US" sz="2400" dirty="0">
              <a:solidFill>
                <a:schemeClr val="accent5">
                  <a:lumMod val="20000"/>
                  <a:lumOff val="80000"/>
                </a:schemeClr>
              </a:solidFill>
            </a:endParaRPr>
          </a:p>
          <a:p>
            <a:endParaRPr lang="en-IN" dirty="0"/>
          </a:p>
        </p:txBody>
      </p:sp>
    </p:spTree>
    <p:extLst>
      <p:ext uri="{BB962C8B-B14F-4D97-AF65-F5344CB8AC3E}">
        <p14:creationId xmlns:p14="http://schemas.microsoft.com/office/powerpoint/2010/main" val="1107824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12AC0F62-8424-45E6-85BB-B3BB4BAC6840}"/>
              </a:ext>
            </a:extLst>
          </p:cNvPr>
          <p:cNvSpPr txBox="1"/>
          <p:nvPr/>
        </p:nvSpPr>
        <p:spPr>
          <a:xfrm>
            <a:off x="0" y="0"/>
            <a:ext cx="12192000" cy="523220"/>
          </a:xfrm>
          <a:prstGeom prst="rect">
            <a:avLst/>
          </a:prstGeom>
          <a:noFill/>
        </p:spPr>
        <p:txBody>
          <a:bodyPr wrap="square" rtlCol="0">
            <a:spAutoFit/>
          </a:bodyPr>
          <a:lstStyle/>
          <a:p>
            <a:pPr algn="ctr"/>
            <a:r>
              <a:rPr lang="en-US" sz="2800" b="1" dirty="0">
                <a:solidFill>
                  <a:schemeClr val="accent2">
                    <a:lumMod val="75000"/>
                  </a:schemeClr>
                </a:solidFill>
              </a:rPr>
              <a:t>EDA - VISUALISATION 1</a:t>
            </a:r>
            <a:endParaRPr lang="en-IN" sz="2800" b="1" dirty="0">
              <a:solidFill>
                <a:schemeClr val="accent2">
                  <a:lumMod val="75000"/>
                </a:schemeClr>
              </a:solidFill>
            </a:endParaRPr>
          </a:p>
        </p:txBody>
      </p:sp>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6417578" y="771787"/>
            <a:ext cx="5108895" cy="4524315"/>
          </a:xfrm>
          <a:prstGeom prst="rect">
            <a:avLst/>
          </a:prstGeom>
          <a:noFill/>
        </p:spPr>
        <p:txBody>
          <a:bodyPr wrap="square" rtlCol="0">
            <a:spAutoFit/>
          </a:bodyPr>
          <a:lstStyle/>
          <a:p>
            <a:r>
              <a:rPr lang="en-US" b="1" dirty="0">
                <a:solidFill>
                  <a:srgbClr val="FFFF00"/>
                </a:solidFill>
              </a:rPr>
              <a:t>Chart 1: What are the major trends in airfare prices over time?</a:t>
            </a:r>
          </a:p>
          <a:p>
            <a:endParaRPr lang="en-US" b="1" dirty="0">
              <a:solidFill>
                <a:srgbClr val="FFFF00"/>
              </a:solidFill>
            </a:endParaRPr>
          </a:p>
          <a:p>
            <a:r>
              <a:rPr lang="en-US" b="1" dirty="0">
                <a:solidFill>
                  <a:srgbClr val="FFFF00"/>
                </a:solidFill>
              </a:rPr>
              <a:t>Chart type:</a:t>
            </a:r>
            <a:r>
              <a:rPr lang="en-US" dirty="0">
                <a:solidFill>
                  <a:srgbClr val="FFFF00"/>
                </a:solidFill>
              </a:rPr>
              <a:t> </a:t>
            </a:r>
            <a:r>
              <a:rPr lang="en-US" dirty="0">
                <a:solidFill>
                  <a:schemeClr val="bg2"/>
                </a:solidFill>
              </a:rPr>
              <a:t>Bar graph</a:t>
            </a:r>
            <a:br>
              <a:rPr lang="en-US" dirty="0">
                <a:solidFill>
                  <a:schemeClr val="bg2"/>
                </a:solidFill>
              </a:rPr>
            </a:br>
            <a:r>
              <a:rPr lang="en-US" b="1" dirty="0">
                <a:solidFill>
                  <a:srgbClr val="FFFF00"/>
                </a:solidFill>
              </a:rPr>
              <a:t>X-axis:</a:t>
            </a:r>
            <a:r>
              <a:rPr lang="en-US" dirty="0">
                <a:solidFill>
                  <a:srgbClr val="FFFF00"/>
                </a:solidFill>
              </a:rPr>
              <a:t> </a:t>
            </a:r>
            <a:r>
              <a:rPr lang="en-US" dirty="0">
                <a:solidFill>
                  <a:schemeClr val="bg2"/>
                </a:solidFill>
              </a:rPr>
              <a:t>Departure Hour</a:t>
            </a:r>
            <a:br>
              <a:rPr lang="en-US" dirty="0">
                <a:solidFill>
                  <a:schemeClr val="bg2"/>
                </a:solidFill>
              </a:rPr>
            </a:br>
            <a:r>
              <a:rPr lang="en-US" b="1" dirty="0">
                <a:solidFill>
                  <a:srgbClr val="FFFF00"/>
                </a:solidFill>
              </a:rPr>
              <a:t>Y-axis:</a:t>
            </a:r>
            <a:r>
              <a:rPr lang="en-US" dirty="0">
                <a:solidFill>
                  <a:srgbClr val="FFFF00"/>
                </a:solidFill>
              </a:rPr>
              <a:t> </a:t>
            </a:r>
            <a:r>
              <a:rPr lang="en-US" dirty="0">
                <a:solidFill>
                  <a:schemeClr val="bg2"/>
                </a:solidFill>
              </a:rPr>
              <a:t>Average Ticket Price</a:t>
            </a:r>
          </a:p>
          <a:p>
            <a:r>
              <a:rPr lang="en-US" b="1" dirty="0">
                <a:solidFill>
                  <a:srgbClr val="FFFF00"/>
                </a:solidFill>
              </a:rPr>
              <a:t>Key insight:</a:t>
            </a:r>
            <a:br>
              <a:rPr lang="en-US" dirty="0">
                <a:solidFill>
                  <a:schemeClr val="bg2"/>
                </a:solidFill>
              </a:rPr>
            </a:br>
            <a:r>
              <a:rPr lang="en-US" dirty="0">
                <a:solidFill>
                  <a:schemeClr val="bg2"/>
                </a:solidFill>
              </a:rPr>
              <a:t>Airfare prices fluctuate across</a:t>
            </a:r>
          </a:p>
          <a:p>
            <a:r>
              <a:rPr lang="en-US" dirty="0">
                <a:solidFill>
                  <a:schemeClr val="bg2"/>
                </a:solidFill>
              </a:rPr>
              <a:t> different departure times, </a:t>
            </a:r>
          </a:p>
          <a:p>
            <a:r>
              <a:rPr lang="en-US" dirty="0">
                <a:solidFill>
                  <a:schemeClr val="bg2"/>
                </a:solidFill>
              </a:rPr>
              <a:t>indicating demand-based pricing patterns.</a:t>
            </a:r>
          </a:p>
          <a:p>
            <a:r>
              <a:rPr lang="en-US" b="1" dirty="0">
                <a:solidFill>
                  <a:srgbClr val="FFFF00"/>
                </a:solidFill>
              </a:rPr>
              <a:t>Observation:</a:t>
            </a:r>
            <a:endParaRPr lang="en-US" dirty="0">
              <a:solidFill>
                <a:srgbClr val="FFFF00"/>
              </a:solidFill>
            </a:endParaRPr>
          </a:p>
          <a:p>
            <a:r>
              <a:rPr lang="en-US" dirty="0">
                <a:solidFill>
                  <a:schemeClr val="bg2"/>
                </a:solidFill>
              </a:rPr>
              <a:t>Certain hours show higher </a:t>
            </a:r>
          </a:p>
          <a:p>
            <a:r>
              <a:rPr lang="en-US" dirty="0">
                <a:solidFill>
                  <a:schemeClr val="bg2"/>
                </a:solidFill>
              </a:rPr>
              <a:t>ticket prices, representing peak travel</a:t>
            </a:r>
          </a:p>
          <a:p>
            <a:r>
              <a:rPr lang="en-US" dirty="0">
                <a:solidFill>
                  <a:schemeClr val="bg2"/>
                </a:solidFill>
              </a:rPr>
              <a:t> periods. </a:t>
            </a:r>
          </a:p>
          <a:p>
            <a:r>
              <a:rPr lang="en-US" dirty="0">
                <a:solidFill>
                  <a:schemeClr val="bg2"/>
                </a:solidFill>
              </a:rPr>
              <a:t>Business class fares are consistently </a:t>
            </a:r>
          </a:p>
          <a:p>
            <a:r>
              <a:rPr lang="en-US" dirty="0">
                <a:solidFill>
                  <a:schemeClr val="bg2"/>
                </a:solidFill>
              </a:rPr>
              <a:t>higher than economy class across all time slots.</a:t>
            </a:r>
          </a:p>
        </p:txBody>
      </p:sp>
      <p:pic>
        <p:nvPicPr>
          <p:cNvPr id="9" name="Picture 8"/>
          <p:cNvPicPr/>
          <p:nvPr/>
        </p:nvPicPr>
        <p:blipFill>
          <a:blip r:embed="rId3"/>
          <a:stretch>
            <a:fillRect/>
          </a:stretch>
        </p:blipFill>
        <p:spPr>
          <a:xfrm>
            <a:off x="177944" y="523219"/>
            <a:ext cx="5918056" cy="4837345"/>
          </a:xfrm>
          <a:prstGeom prst="rect">
            <a:avLst/>
          </a:prstGeom>
        </p:spPr>
      </p:pic>
    </p:spTree>
    <p:extLst>
      <p:ext uri="{BB962C8B-B14F-4D97-AF65-F5344CB8AC3E}">
        <p14:creationId xmlns:p14="http://schemas.microsoft.com/office/powerpoint/2010/main" val="3053803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12AC0F62-8424-45E6-85BB-B3BB4BAC6840}"/>
              </a:ext>
            </a:extLst>
          </p:cNvPr>
          <p:cNvSpPr txBox="1"/>
          <p:nvPr/>
        </p:nvSpPr>
        <p:spPr>
          <a:xfrm>
            <a:off x="0" y="0"/>
            <a:ext cx="12192000" cy="523220"/>
          </a:xfrm>
          <a:prstGeom prst="rect">
            <a:avLst/>
          </a:prstGeom>
          <a:noFill/>
        </p:spPr>
        <p:txBody>
          <a:bodyPr wrap="square" rtlCol="0">
            <a:spAutoFit/>
          </a:bodyPr>
          <a:lstStyle/>
          <a:p>
            <a:pPr algn="ctr"/>
            <a:r>
              <a:rPr lang="en-US" sz="2800" b="1" dirty="0">
                <a:solidFill>
                  <a:schemeClr val="accent2">
                    <a:lumMod val="75000"/>
                  </a:schemeClr>
                </a:solidFill>
              </a:rPr>
              <a:t>EDA - VISUALISATION 2</a:t>
            </a:r>
            <a:endParaRPr lang="en-IN" sz="2800" b="1" dirty="0">
              <a:solidFill>
                <a:schemeClr val="accent2">
                  <a:lumMod val="75000"/>
                </a:schemeClr>
              </a:solidFill>
            </a:endParaRPr>
          </a:p>
        </p:txBody>
      </p:sp>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6417578" y="771787"/>
            <a:ext cx="5108895" cy="3693319"/>
          </a:xfrm>
          <a:prstGeom prst="rect">
            <a:avLst/>
          </a:prstGeom>
          <a:noFill/>
        </p:spPr>
        <p:txBody>
          <a:bodyPr wrap="square" rtlCol="0">
            <a:spAutoFit/>
          </a:bodyPr>
          <a:lstStyle/>
          <a:p>
            <a:r>
              <a:rPr lang="en-US" b="1" dirty="0">
                <a:solidFill>
                  <a:srgbClr val="FFFF00"/>
                </a:solidFill>
              </a:rPr>
              <a:t>Chart 2: Which factors contribute most to ticket price variation?</a:t>
            </a:r>
          </a:p>
          <a:p>
            <a:endParaRPr lang="en-US" b="1" dirty="0"/>
          </a:p>
          <a:p>
            <a:r>
              <a:rPr lang="en-US" b="1" dirty="0">
                <a:solidFill>
                  <a:srgbClr val="FFFF00"/>
                </a:solidFill>
              </a:rPr>
              <a:t>Chart type</a:t>
            </a:r>
            <a:r>
              <a:rPr lang="en-US" b="1" dirty="0"/>
              <a:t>:</a:t>
            </a:r>
            <a:r>
              <a:rPr lang="en-US" dirty="0">
                <a:solidFill>
                  <a:schemeClr val="bg1"/>
                </a:solidFill>
              </a:rPr>
              <a:t> Pie chart</a:t>
            </a:r>
          </a:p>
          <a:p>
            <a:r>
              <a:rPr lang="en-US" b="1" dirty="0">
                <a:solidFill>
                  <a:srgbClr val="FFFF00"/>
                </a:solidFill>
              </a:rPr>
              <a:t>Key insight:</a:t>
            </a:r>
            <a:br>
              <a:rPr lang="en-US" dirty="0"/>
            </a:br>
            <a:r>
              <a:rPr lang="en-US" dirty="0">
                <a:solidFill>
                  <a:schemeClr val="bg1"/>
                </a:solidFill>
              </a:rPr>
              <a:t>Different airlines contribute differently to ticket price variation, showing uneven pricing distribution.</a:t>
            </a:r>
          </a:p>
          <a:p>
            <a:r>
              <a:rPr lang="en-US" b="1" dirty="0">
                <a:solidFill>
                  <a:srgbClr val="FFFF00"/>
                </a:solidFill>
              </a:rPr>
              <a:t>Observation:</a:t>
            </a:r>
            <a:endParaRPr lang="en-US" dirty="0">
              <a:solidFill>
                <a:srgbClr val="FFFF00"/>
              </a:solidFill>
            </a:endParaRPr>
          </a:p>
          <a:p>
            <a:r>
              <a:rPr lang="en-US" dirty="0">
                <a:solidFill>
                  <a:schemeClr val="bg1"/>
                </a:solidFill>
              </a:rPr>
              <a:t>A few airlines dominate in terms of</a:t>
            </a:r>
          </a:p>
          <a:p>
            <a:r>
              <a:rPr lang="en-US" dirty="0">
                <a:solidFill>
                  <a:schemeClr val="bg1"/>
                </a:solidFill>
              </a:rPr>
              <a:t> higher ticket prices. </a:t>
            </a:r>
          </a:p>
          <a:p>
            <a:r>
              <a:rPr lang="en-US" dirty="0">
                <a:solidFill>
                  <a:schemeClr val="bg1"/>
                </a:solidFill>
              </a:rPr>
              <a:t>Premium airlines tend to</a:t>
            </a:r>
          </a:p>
          <a:p>
            <a:r>
              <a:rPr lang="en-US" dirty="0">
                <a:solidFill>
                  <a:schemeClr val="bg1"/>
                </a:solidFill>
              </a:rPr>
              <a:t> contribute more to overall price variation.</a:t>
            </a:r>
          </a:p>
          <a:p>
            <a:endParaRPr lang="en-US" b="1" dirty="0"/>
          </a:p>
        </p:txBody>
      </p:sp>
      <p:pic>
        <p:nvPicPr>
          <p:cNvPr id="10" name="Picture 9"/>
          <p:cNvPicPr/>
          <p:nvPr/>
        </p:nvPicPr>
        <p:blipFill>
          <a:blip r:embed="rId3"/>
          <a:stretch>
            <a:fillRect/>
          </a:stretch>
        </p:blipFill>
        <p:spPr>
          <a:xfrm>
            <a:off x="340063" y="771787"/>
            <a:ext cx="5532231" cy="4444375"/>
          </a:xfrm>
          <a:prstGeom prst="rect">
            <a:avLst/>
          </a:prstGeom>
        </p:spPr>
      </p:pic>
    </p:spTree>
    <p:extLst>
      <p:ext uri="{BB962C8B-B14F-4D97-AF65-F5344CB8AC3E}">
        <p14:creationId xmlns:p14="http://schemas.microsoft.com/office/powerpoint/2010/main" val="950987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12AC0F62-8424-45E6-85BB-B3BB4BAC6840}"/>
              </a:ext>
            </a:extLst>
          </p:cNvPr>
          <p:cNvSpPr txBox="1"/>
          <p:nvPr/>
        </p:nvSpPr>
        <p:spPr>
          <a:xfrm>
            <a:off x="0" y="0"/>
            <a:ext cx="12192000" cy="523220"/>
          </a:xfrm>
          <a:prstGeom prst="rect">
            <a:avLst/>
          </a:prstGeom>
          <a:noFill/>
        </p:spPr>
        <p:txBody>
          <a:bodyPr wrap="square" rtlCol="0">
            <a:spAutoFit/>
          </a:bodyPr>
          <a:lstStyle/>
          <a:p>
            <a:pPr algn="ctr"/>
            <a:r>
              <a:rPr lang="en-US" sz="2800" b="1" dirty="0">
                <a:solidFill>
                  <a:schemeClr val="accent2">
                    <a:lumMod val="75000"/>
                  </a:schemeClr>
                </a:solidFill>
              </a:rPr>
              <a:t>EDA - VISUALISATION 3</a:t>
            </a:r>
            <a:endParaRPr lang="en-IN" sz="2800" b="1" dirty="0">
              <a:solidFill>
                <a:schemeClr val="accent2">
                  <a:lumMod val="75000"/>
                </a:schemeClr>
              </a:solidFill>
            </a:endParaRPr>
          </a:p>
        </p:txBody>
      </p:sp>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6417578" y="771787"/>
            <a:ext cx="5108895" cy="4524315"/>
          </a:xfrm>
          <a:prstGeom prst="rect">
            <a:avLst/>
          </a:prstGeom>
          <a:noFill/>
        </p:spPr>
        <p:txBody>
          <a:bodyPr wrap="square" rtlCol="0">
            <a:spAutoFit/>
          </a:bodyPr>
          <a:lstStyle/>
          <a:p>
            <a:r>
              <a:rPr lang="en-US" b="1" dirty="0">
                <a:solidFill>
                  <a:srgbClr val="FFFF00"/>
                </a:solidFill>
              </a:rPr>
              <a:t>Chart 3: Is there a correlation between journey duration and ticket price?</a:t>
            </a:r>
          </a:p>
          <a:p>
            <a:endParaRPr lang="en-US" b="1" dirty="0">
              <a:solidFill>
                <a:srgbClr val="FFFF00"/>
              </a:solidFill>
            </a:endParaRPr>
          </a:p>
          <a:p>
            <a:r>
              <a:rPr lang="en-US" b="1" dirty="0">
                <a:solidFill>
                  <a:srgbClr val="FFFF00"/>
                </a:solidFill>
              </a:rPr>
              <a:t>Chart type</a:t>
            </a:r>
            <a:r>
              <a:rPr lang="en-US" b="1" dirty="0">
                <a:solidFill>
                  <a:schemeClr val="bg1"/>
                </a:solidFill>
              </a:rPr>
              <a:t>:</a:t>
            </a:r>
            <a:r>
              <a:rPr lang="en-US" dirty="0">
                <a:solidFill>
                  <a:schemeClr val="bg1"/>
                </a:solidFill>
              </a:rPr>
              <a:t> Scatter plot with regression line</a:t>
            </a:r>
            <a:br>
              <a:rPr lang="en-US" dirty="0"/>
            </a:br>
            <a:r>
              <a:rPr lang="en-US" b="1" dirty="0">
                <a:solidFill>
                  <a:srgbClr val="FFFF00"/>
                </a:solidFill>
              </a:rPr>
              <a:t>X-axis</a:t>
            </a:r>
            <a:r>
              <a:rPr lang="en-US" b="1" dirty="0">
                <a:solidFill>
                  <a:schemeClr val="bg1"/>
                </a:solidFill>
              </a:rPr>
              <a:t>:</a:t>
            </a:r>
            <a:r>
              <a:rPr lang="en-US" dirty="0">
                <a:solidFill>
                  <a:schemeClr val="bg1"/>
                </a:solidFill>
              </a:rPr>
              <a:t> Journey Duration (minutes)</a:t>
            </a:r>
            <a:br>
              <a:rPr lang="en-US" dirty="0"/>
            </a:br>
            <a:r>
              <a:rPr lang="en-US" b="1" dirty="0">
                <a:solidFill>
                  <a:srgbClr val="FFFF00"/>
                </a:solidFill>
              </a:rPr>
              <a:t>Y-axis</a:t>
            </a:r>
            <a:r>
              <a:rPr lang="en-US" b="1" dirty="0">
                <a:solidFill>
                  <a:schemeClr val="bg1"/>
                </a:solidFill>
              </a:rPr>
              <a:t>:</a:t>
            </a:r>
            <a:r>
              <a:rPr lang="en-US" dirty="0">
                <a:solidFill>
                  <a:schemeClr val="bg1"/>
                </a:solidFill>
              </a:rPr>
              <a:t> Ticket Price</a:t>
            </a:r>
          </a:p>
          <a:p>
            <a:r>
              <a:rPr lang="en-US" b="1" dirty="0">
                <a:solidFill>
                  <a:srgbClr val="FFFF00"/>
                </a:solidFill>
              </a:rPr>
              <a:t>Key insight:</a:t>
            </a:r>
            <a:br>
              <a:rPr lang="en-US" dirty="0"/>
            </a:br>
            <a:r>
              <a:rPr lang="en-US" dirty="0">
                <a:solidFill>
                  <a:schemeClr val="bg1"/>
                </a:solidFill>
              </a:rPr>
              <a:t>There is a positive </a:t>
            </a:r>
          </a:p>
          <a:p>
            <a:r>
              <a:rPr lang="en-US" dirty="0">
                <a:solidFill>
                  <a:schemeClr val="bg1"/>
                </a:solidFill>
              </a:rPr>
              <a:t>correlation between journey</a:t>
            </a:r>
          </a:p>
          <a:p>
            <a:r>
              <a:rPr lang="en-US" dirty="0">
                <a:solidFill>
                  <a:schemeClr val="bg1"/>
                </a:solidFill>
              </a:rPr>
              <a:t>duration and ticket price.</a:t>
            </a:r>
          </a:p>
          <a:p>
            <a:r>
              <a:rPr lang="en-US" b="1" dirty="0">
                <a:solidFill>
                  <a:srgbClr val="FFFF00"/>
                </a:solidFill>
              </a:rPr>
              <a:t>Observation:</a:t>
            </a:r>
            <a:endParaRPr lang="en-US" dirty="0">
              <a:solidFill>
                <a:srgbClr val="FFFF00"/>
              </a:solidFill>
            </a:endParaRPr>
          </a:p>
          <a:p>
            <a:r>
              <a:rPr lang="en-US" dirty="0">
                <a:solidFill>
                  <a:schemeClr val="bg1"/>
                </a:solidFill>
              </a:rPr>
              <a:t>Ticket prices generally </a:t>
            </a:r>
          </a:p>
          <a:p>
            <a:r>
              <a:rPr lang="en-US" dirty="0">
                <a:solidFill>
                  <a:schemeClr val="bg1"/>
                </a:solidFill>
              </a:rPr>
              <a:t>increase as journey duration increases. </a:t>
            </a:r>
          </a:p>
          <a:p>
            <a:r>
              <a:rPr lang="en-US" dirty="0">
                <a:solidFill>
                  <a:schemeClr val="bg1"/>
                </a:solidFill>
              </a:rPr>
              <a:t>Some variations indicate </a:t>
            </a:r>
          </a:p>
          <a:p>
            <a:r>
              <a:rPr lang="en-US" dirty="0">
                <a:solidFill>
                  <a:schemeClr val="bg1"/>
                </a:solidFill>
              </a:rPr>
              <a:t>that other factors also influence pricing.</a:t>
            </a:r>
          </a:p>
          <a:p>
            <a:endParaRPr lang="en-US" dirty="0"/>
          </a:p>
        </p:txBody>
      </p:sp>
      <p:pic>
        <p:nvPicPr>
          <p:cNvPr id="9" name="Picture 8"/>
          <p:cNvPicPr/>
          <p:nvPr/>
        </p:nvPicPr>
        <p:blipFill>
          <a:blip r:embed="rId3"/>
          <a:stretch>
            <a:fillRect/>
          </a:stretch>
        </p:blipFill>
        <p:spPr>
          <a:xfrm>
            <a:off x="214967" y="771787"/>
            <a:ext cx="5728633" cy="4823670"/>
          </a:xfrm>
          <a:prstGeom prst="rect">
            <a:avLst/>
          </a:prstGeom>
        </p:spPr>
      </p:pic>
    </p:spTree>
    <p:extLst>
      <p:ext uri="{BB962C8B-B14F-4D97-AF65-F5344CB8AC3E}">
        <p14:creationId xmlns:p14="http://schemas.microsoft.com/office/powerpoint/2010/main" val="913283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12AC0F62-8424-45E6-85BB-B3BB4BAC6840}"/>
              </a:ext>
            </a:extLst>
          </p:cNvPr>
          <p:cNvSpPr txBox="1"/>
          <p:nvPr/>
        </p:nvSpPr>
        <p:spPr>
          <a:xfrm>
            <a:off x="0" y="0"/>
            <a:ext cx="12192000" cy="523220"/>
          </a:xfrm>
          <a:prstGeom prst="rect">
            <a:avLst/>
          </a:prstGeom>
          <a:noFill/>
        </p:spPr>
        <p:txBody>
          <a:bodyPr wrap="square" rtlCol="0">
            <a:spAutoFit/>
          </a:bodyPr>
          <a:lstStyle/>
          <a:p>
            <a:pPr algn="ctr"/>
            <a:r>
              <a:rPr lang="en-US" sz="2800" b="1" dirty="0">
                <a:solidFill>
                  <a:schemeClr val="accent2">
                    <a:lumMod val="75000"/>
                  </a:schemeClr>
                </a:solidFill>
              </a:rPr>
              <a:t>EDA - VISUALISATION 4</a:t>
            </a:r>
            <a:endParaRPr lang="en-IN" sz="2800" b="1" dirty="0">
              <a:solidFill>
                <a:schemeClr val="accent2">
                  <a:lumMod val="75000"/>
                </a:schemeClr>
              </a:solidFill>
            </a:endParaRPr>
          </a:p>
        </p:txBody>
      </p:sp>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6417578" y="771787"/>
            <a:ext cx="5108895" cy="5078313"/>
          </a:xfrm>
          <a:prstGeom prst="rect">
            <a:avLst/>
          </a:prstGeom>
          <a:noFill/>
        </p:spPr>
        <p:txBody>
          <a:bodyPr wrap="square" rtlCol="0">
            <a:spAutoFit/>
          </a:bodyPr>
          <a:lstStyle/>
          <a:p>
            <a:r>
              <a:rPr lang="en-US" b="1" dirty="0">
                <a:solidFill>
                  <a:srgbClr val="FFFF00"/>
                </a:solidFill>
              </a:rPr>
              <a:t>Chart 4: What patterns exist across routes and travel conditions?</a:t>
            </a:r>
          </a:p>
          <a:p>
            <a:endParaRPr lang="en-US" b="1" dirty="0">
              <a:solidFill>
                <a:srgbClr val="FFFF00"/>
              </a:solidFill>
            </a:endParaRPr>
          </a:p>
          <a:p>
            <a:r>
              <a:rPr lang="en-US" b="1" dirty="0">
                <a:solidFill>
                  <a:srgbClr val="FFFF00"/>
                </a:solidFill>
              </a:rPr>
              <a:t>Chart type:</a:t>
            </a:r>
            <a:r>
              <a:rPr lang="en-US" dirty="0">
                <a:solidFill>
                  <a:srgbClr val="FFFF00"/>
                </a:solidFill>
              </a:rPr>
              <a:t> </a:t>
            </a:r>
            <a:r>
              <a:rPr lang="en-US" dirty="0">
                <a:solidFill>
                  <a:schemeClr val="bg1"/>
                </a:solidFill>
              </a:rPr>
              <a:t>Bar graph </a:t>
            </a:r>
            <a:br>
              <a:rPr lang="en-US" dirty="0">
                <a:solidFill>
                  <a:schemeClr val="bg1"/>
                </a:solidFill>
              </a:rPr>
            </a:br>
            <a:r>
              <a:rPr lang="en-US" b="1" dirty="0">
                <a:solidFill>
                  <a:srgbClr val="FFFF00"/>
                </a:solidFill>
              </a:rPr>
              <a:t>X-axis:</a:t>
            </a:r>
            <a:r>
              <a:rPr lang="en-US" dirty="0">
                <a:solidFill>
                  <a:srgbClr val="FFFF00"/>
                </a:solidFill>
              </a:rPr>
              <a:t> </a:t>
            </a:r>
            <a:r>
              <a:rPr lang="en-US" dirty="0">
                <a:solidFill>
                  <a:schemeClr val="bg1"/>
                </a:solidFill>
              </a:rPr>
              <a:t>Route (From → To)</a:t>
            </a:r>
            <a:br>
              <a:rPr lang="en-US" dirty="0">
                <a:solidFill>
                  <a:schemeClr val="bg1"/>
                </a:solidFill>
              </a:rPr>
            </a:br>
            <a:r>
              <a:rPr lang="en-US" b="1" dirty="0">
                <a:solidFill>
                  <a:srgbClr val="FFFF00"/>
                </a:solidFill>
              </a:rPr>
              <a:t>Y-axis:</a:t>
            </a:r>
            <a:r>
              <a:rPr lang="en-US" dirty="0">
                <a:solidFill>
                  <a:srgbClr val="FFFF00"/>
                </a:solidFill>
              </a:rPr>
              <a:t> </a:t>
            </a:r>
            <a:r>
              <a:rPr lang="en-US" dirty="0">
                <a:solidFill>
                  <a:schemeClr val="bg1"/>
                </a:solidFill>
              </a:rPr>
              <a:t>Average Ticket Price</a:t>
            </a:r>
          </a:p>
          <a:p>
            <a:r>
              <a:rPr lang="en-US" b="1" dirty="0">
                <a:solidFill>
                  <a:srgbClr val="FFFF00"/>
                </a:solidFill>
              </a:rPr>
              <a:t>Key insight:</a:t>
            </a:r>
            <a:br>
              <a:rPr lang="en-US" dirty="0"/>
            </a:br>
            <a:r>
              <a:rPr lang="en-US" dirty="0">
                <a:solidFill>
                  <a:schemeClr val="bg1"/>
                </a:solidFill>
              </a:rPr>
              <a:t>Ticket prices vary </a:t>
            </a:r>
          </a:p>
          <a:p>
            <a:r>
              <a:rPr lang="en-US" dirty="0">
                <a:solidFill>
                  <a:schemeClr val="bg1"/>
                </a:solidFill>
              </a:rPr>
              <a:t>significantly across routes </a:t>
            </a:r>
          </a:p>
          <a:p>
            <a:r>
              <a:rPr lang="en-US" dirty="0">
                <a:solidFill>
                  <a:schemeClr val="bg1"/>
                </a:solidFill>
              </a:rPr>
              <a:t>and travel conditions such </a:t>
            </a:r>
          </a:p>
          <a:p>
            <a:r>
              <a:rPr lang="en-US" dirty="0">
                <a:solidFill>
                  <a:schemeClr val="bg1"/>
                </a:solidFill>
              </a:rPr>
              <a:t>as number of stops.</a:t>
            </a:r>
          </a:p>
          <a:p>
            <a:r>
              <a:rPr lang="en-US" b="1" dirty="0">
                <a:solidFill>
                  <a:srgbClr val="FFFF00"/>
                </a:solidFill>
              </a:rPr>
              <a:t>Observation:</a:t>
            </a:r>
            <a:endParaRPr lang="en-US" dirty="0">
              <a:solidFill>
                <a:srgbClr val="FFFF00"/>
              </a:solidFill>
            </a:endParaRPr>
          </a:p>
          <a:p>
            <a:r>
              <a:rPr lang="en-US" dirty="0">
                <a:solidFill>
                  <a:schemeClr val="bg1"/>
                </a:solidFill>
              </a:rPr>
              <a:t>Certain routes consistently </a:t>
            </a:r>
          </a:p>
          <a:p>
            <a:r>
              <a:rPr lang="en-US" dirty="0">
                <a:solidFill>
                  <a:schemeClr val="bg1"/>
                </a:solidFill>
              </a:rPr>
              <a:t>have higher ticket prices. </a:t>
            </a:r>
          </a:p>
          <a:p>
            <a:r>
              <a:rPr lang="en-US" dirty="0">
                <a:solidFill>
                  <a:schemeClr val="bg1"/>
                </a:solidFill>
              </a:rPr>
              <a:t>Non-stop flights tend to be more expensive than flights with multiple stops.</a:t>
            </a:r>
          </a:p>
          <a:p>
            <a:endParaRPr lang="en-US" dirty="0">
              <a:solidFill>
                <a:schemeClr val="bg1"/>
              </a:solidFill>
            </a:endParaRPr>
          </a:p>
          <a:p>
            <a:endParaRPr lang="en-US" dirty="0"/>
          </a:p>
        </p:txBody>
      </p:sp>
      <p:pic>
        <p:nvPicPr>
          <p:cNvPr id="10" name="Picture 9"/>
          <p:cNvPicPr/>
          <p:nvPr/>
        </p:nvPicPr>
        <p:blipFill>
          <a:blip r:embed="rId3"/>
          <a:stretch>
            <a:fillRect/>
          </a:stretch>
        </p:blipFill>
        <p:spPr>
          <a:xfrm>
            <a:off x="157614" y="771787"/>
            <a:ext cx="5874069" cy="4639112"/>
          </a:xfrm>
          <a:prstGeom prst="rect">
            <a:avLst/>
          </a:prstGeom>
        </p:spPr>
      </p:pic>
    </p:spTree>
    <p:extLst>
      <p:ext uri="{BB962C8B-B14F-4D97-AF65-F5344CB8AC3E}">
        <p14:creationId xmlns:p14="http://schemas.microsoft.com/office/powerpoint/2010/main" val="556739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12AC0F62-8424-45E6-85BB-B3BB4BAC6840}"/>
              </a:ext>
            </a:extLst>
          </p:cNvPr>
          <p:cNvSpPr txBox="1"/>
          <p:nvPr/>
        </p:nvSpPr>
        <p:spPr>
          <a:xfrm>
            <a:off x="0" y="0"/>
            <a:ext cx="12192000" cy="523220"/>
          </a:xfrm>
          <a:prstGeom prst="rect">
            <a:avLst/>
          </a:prstGeom>
          <a:noFill/>
        </p:spPr>
        <p:txBody>
          <a:bodyPr wrap="square" rtlCol="0">
            <a:spAutoFit/>
          </a:bodyPr>
          <a:lstStyle/>
          <a:p>
            <a:pPr algn="ctr"/>
            <a:r>
              <a:rPr lang="en-US" sz="2800" b="1" dirty="0">
                <a:solidFill>
                  <a:schemeClr val="accent2">
                    <a:lumMod val="75000"/>
                  </a:schemeClr>
                </a:solidFill>
              </a:rPr>
              <a:t>EDA - VISUALISATION 5</a:t>
            </a:r>
            <a:endParaRPr lang="en-IN" sz="2800" b="1" dirty="0">
              <a:solidFill>
                <a:schemeClr val="accent2">
                  <a:lumMod val="75000"/>
                </a:schemeClr>
              </a:solidFill>
            </a:endParaRPr>
          </a:p>
        </p:txBody>
      </p:sp>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p:cNvSpPr txBox="1"/>
          <p:nvPr/>
        </p:nvSpPr>
        <p:spPr>
          <a:xfrm>
            <a:off x="6417578" y="771787"/>
            <a:ext cx="5108895" cy="4801314"/>
          </a:xfrm>
          <a:prstGeom prst="rect">
            <a:avLst/>
          </a:prstGeom>
          <a:noFill/>
        </p:spPr>
        <p:txBody>
          <a:bodyPr wrap="square" rtlCol="0">
            <a:spAutoFit/>
          </a:bodyPr>
          <a:lstStyle/>
          <a:p>
            <a:r>
              <a:rPr lang="en-US" b="1" dirty="0">
                <a:solidFill>
                  <a:srgbClr val="FFFF00"/>
                </a:solidFill>
              </a:rPr>
              <a:t>Chart 5: Can ticket prices be predicted using historical data?</a:t>
            </a:r>
          </a:p>
          <a:p>
            <a:endParaRPr lang="en-US" b="1" dirty="0"/>
          </a:p>
          <a:p>
            <a:r>
              <a:rPr lang="en-US" b="1" dirty="0">
                <a:solidFill>
                  <a:srgbClr val="FFFF00"/>
                </a:solidFill>
              </a:rPr>
              <a:t>Chart type:</a:t>
            </a:r>
            <a:r>
              <a:rPr lang="en-US" dirty="0">
                <a:solidFill>
                  <a:srgbClr val="FFFF00"/>
                </a:solidFill>
              </a:rPr>
              <a:t> </a:t>
            </a:r>
            <a:r>
              <a:rPr lang="en-US" dirty="0">
                <a:solidFill>
                  <a:schemeClr val="bg1"/>
                </a:solidFill>
              </a:rPr>
              <a:t>Line chart</a:t>
            </a:r>
            <a:br>
              <a:rPr lang="en-US" dirty="0">
                <a:solidFill>
                  <a:schemeClr val="bg1"/>
                </a:solidFill>
              </a:rPr>
            </a:br>
            <a:r>
              <a:rPr lang="en-US" b="1" dirty="0">
                <a:solidFill>
                  <a:srgbClr val="FFFF00"/>
                </a:solidFill>
              </a:rPr>
              <a:t>X-axis:</a:t>
            </a:r>
            <a:r>
              <a:rPr lang="en-US" dirty="0">
                <a:solidFill>
                  <a:srgbClr val="FFFF00"/>
                </a:solidFill>
              </a:rPr>
              <a:t> </a:t>
            </a:r>
            <a:r>
              <a:rPr lang="en-US" dirty="0">
                <a:solidFill>
                  <a:schemeClr val="bg1"/>
                </a:solidFill>
              </a:rPr>
              <a:t>Date</a:t>
            </a:r>
            <a:br>
              <a:rPr lang="en-US" dirty="0"/>
            </a:br>
            <a:r>
              <a:rPr lang="en-US" b="1" dirty="0">
                <a:solidFill>
                  <a:srgbClr val="FFFF00"/>
                </a:solidFill>
              </a:rPr>
              <a:t>Y-axis:</a:t>
            </a:r>
            <a:r>
              <a:rPr lang="en-US" dirty="0"/>
              <a:t> </a:t>
            </a:r>
            <a:r>
              <a:rPr lang="en-US" dirty="0">
                <a:solidFill>
                  <a:schemeClr val="bg1"/>
                </a:solidFill>
              </a:rPr>
              <a:t>Average Ticket Price</a:t>
            </a:r>
          </a:p>
          <a:p>
            <a:r>
              <a:rPr lang="en-US" b="1" dirty="0">
                <a:solidFill>
                  <a:srgbClr val="FFFF00"/>
                </a:solidFill>
              </a:rPr>
              <a:t>Key insight:</a:t>
            </a:r>
            <a:br>
              <a:rPr lang="en-US" dirty="0"/>
            </a:br>
            <a:r>
              <a:rPr lang="en-US" dirty="0">
                <a:solidFill>
                  <a:schemeClr val="bg1"/>
                </a:solidFill>
              </a:rPr>
              <a:t>Historical trends</a:t>
            </a:r>
          </a:p>
          <a:p>
            <a:r>
              <a:rPr lang="en-US" dirty="0">
                <a:solidFill>
                  <a:schemeClr val="bg1"/>
                </a:solidFill>
              </a:rPr>
              <a:t> show that ticket prices</a:t>
            </a:r>
          </a:p>
          <a:p>
            <a:r>
              <a:rPr lang="en-US" dirty="0">
                <a:solidFill>
                  <a:schemeClr val="bg1"/>
                </a:solidFill>
              </a:rPr>
              <a:t> follow a pattern over time,</a:t>
            </a:r>
          </a:p>
          <a:p>
            <a:r>
              <a:rPr lang="en-US" dirty="0">
                <a:solidFill>
                  <a:schemeClr val="bg1"/>
                </a:solidFill>
              </a:rPr>
              <a:t> allowing partial prediction.</a:t>
            </a:r>
          </a:p>
          <a:p>
            <a:r>
              <a:rPr lang="en-US" b="1" dirty="0">
                <a:solidFill>
                  <a:srgbClr val="FFFF00"/>
                </a:solidFill>
              </a:rPr>
              <a:t>Observation:</a:t>
            </a:r>
            <a:endParaRPr lang="en-US" dirty="0">
              <a:solidFill>
                <a:srgbClr val="FFFF00"/>
              </a:solidFill>
            </a:endParaRPr>
          </a:p>
          <a:p>
            <a:r>
              <a:rPr lang="en-US" dirty="0">
                <a:solidFill>
                  <a:schemeClr val="bg1"/>
                </a:solidFill>
              </a:rPr>
              <a:t>Ticket prices fluctuate </a:t>
            </a:r>
          </a:p>
          <a:p>
            <a:r>
              <a:rPr lang="en-US" dirty="0">
                <a:solidFill>
                  <a:schemeClr val="bg1"/>
                </a:solidFill>
              </a:rPr>
              <a:t>over time but follow a general trend. </a:t>
            </a:r>
          </a:p>
          <a:p>
            <a:r>
              <a:rPr lang="en-US" dirty="0">
                <a:solidFill>
                  <a:schemeClr val="bg1"/>
                </a:solidFill>
              </a:rPr>
              <a:t>Predictions are possible, though not perfectly accurate due to external factors.</a:t>
            </a:r>
          </a:p>
          <a:p>
            <a:endParaRPr lang="en-US" dirty="0"/>
          </a:p>
        </p:txBody>
      </p:sp>
      <p:pic>
        <p:nvPicPr>
          <p:cNvPr id="9" name="Picture 8"/>
          <p:cNvPicPr/>
          <p:nvPr/>
        </p:nvPicPr>
        <p:blipFill>
          <a:blip r:embed="rId3"/>
          <a:stretch>
            <a:fillRect/>
          </a:stretch>
        </p:blipFill>
        <p:spPr>
          <a:xfrm>
            <a:off x="206336" y="566665"/>
            <a:ext cx="6042063" cy="5283435"/>
          </a:xfrm>
          <a:prstGeom prst="rect">
            <a:avLst/>
          </a:prstGeom>
        </p:spPr>
      </p:pic>
    </p:spTree>
    <p:extLst>
      <p:ext uri="{BB962C8B-B14F-4D97-AF65-F5344CB8AC3E}">
        <p14:creationId xmlns:p14="http://schemas.microsoft.com/office/powerpoint/2010/main" val="34291091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43281" y="251670"/>
            <a:ext cx="11484528" cy="461665"/>
          </a:xfrm>
          <a:prstGeom prst="rect">
            <a:avLst/>
          </a:prstGeom>
          <a:noFill/>
        </p:spPr>
        <p:txBody>
          <a:bodyPr wrap="square" rtlCol="0">
            <a:spAutoFit/>
          </a:bodyPr>
          <a:lstStyle/>
          <a:p>
            <a:pPr algn="ctr"/>
            <a:r>
              <a:rPr lang="en-US" sz="2400" b="1" dirty="0">
                <a:solidFill>
                  <a:srgbClr val="FFC000"/>
                </a:solidFill>
              </a:rPr>
              <a:t>STATISTICAL ANALYSIS</a:t>
            </a:r>
            <a:endParaRPr lang="en-IN" sz="2400" dirty="0">
              <a:solidFill>
                <a:srgbClr val="FFC000"/>
              </a:solidFill>
            </a:endParaRPr>
          </a:p>
        </p:txBody>
      </p:sp>
      <p:sp>
        <p:nvSpPr>
          <p:cNvPr id="4" name="TextBox 3"/>
          <p:cNvSpPr txBox="1"/>
          <p:nvPr/>
        </p:nvSpPr>
        <p:spPr>
          <a:xfrm>
            <a:off x="243281" y="1124124"/>
            <a:ext cx="10075178" cy="3877985"/>
          </a:xfrm>
          <a:prstGeom prst="rect">
            <a:avLst/>
          </a:prstGeom>
          <a:noFill/>
        </p:spPr>
        <p:txBody>
          <a:bodyPr wrap="square" rtlCol="0">
            <a:spAutoFit/>
          </a:bodyPr>
          <a:lstStyle/>
          <a:p>
            <a:r>
              <a:rPr lang="en-US" sz="2800" b="1" dirty="0">
                <a:solidFill>
                  <a:srgbClr val="FFC000"/>
                </a:solidFill>
              </a:rPr>
              <a:t>Hypothesis Testing &amp; Statistical Methods</a:t>
            </a:r>
          </a:p>
          <a:p>
            <a:r>
              <a:rPr lang="en-US" sz="2000" b="1" dirty="0">
                <a:solidFill>
                  <a:schemeClr val="accent3"/>
                </a:solidFill>
              </a:rPr>
              <a:t>Hypothesis</a:t>
            </a:r>
            <a:br>
              <a:rPr lang="en-US" sz="2000" dirty="0">
                <a:solidFill>
                  <a:schemeClr val="bg1"/>
                </a:solidFill>
              </a:rPr>
            </a:br>
            <a:r>
              <a:rPr lang="en-US" sz="2000" dirty="0">
                <a:solidFill>
                  <a:schemeClr val="accent3"/>
                </a:solidFill>
              </a:rPr>
              <a:t>H₀: </a:t>
            </a:r>
            <a:r>
              <a:rPr lang="en-US" sz="2000" dirty="0">
                <a:solidFill>
                  <a:schemeClr val="bg1"/>
                </a:solidFill>
              </a:rPr>
              <a:t>There is </a:t>
            </a:r>
            <a:r>
              <a:rPr lang="en-US" sz="2000" b="1" dirty="0">
                <a:solidFill>
                  <a:schemeClr val="bg1"/>
                </a:solidFill>
              </a:rPr>
              <a:t>no significant relationship</a:t>
            </a:r>
            <a:r>
              <a:rPr lang="en-US" sz="2000" dirty="0">
                <a:solidFill>
                  <a:schemeClr val="bg1"/>
                </a:solidFill>
              </a:rPr>
              <a:t> between factors (duration, stops, class type) and ticket price</a:t>
            </a:r>
            <a:br>
              <a:rPr lang="en-US" sz="2000" dirty="0">
                <a:solidFill>
                  <a:schemeClr val="bg1"/>
                </a:solidFill>
              </a:rPr>
            </a:br>
            <a:r>
              <a:rPr lang="en-US" sz="2000" dirty="0">
                <a:solidFill>
                  <a:schemeClr val="accent3"/>
                </a:solidFill>
              </a:rPr>
              <a:t>H₁: </a:t>
            </a:r>
            <a:r>
              <a:rPr lang="en-US" sz="2000" dirty="0">
                <a:solidFill>
                  <a:schemeClr val="bg1"/>
                </a:solidFill>
              </a:rPr>
              <a:t>There </a:t>
            </a:r>
            <a:r>
              <a:rPr lang="en-US" sz="2000" b="1" dirty="0">
                <a:solidFill>
                  <a:schemeClr val="bg1"/>
                </a:solidFill>
              </a:rPr>
              <a:t>is a significant relationship</a:t>
            </a:r>
            <a:r>
              <a:rPr lang="en-US" sz="2000" dirty="0">
                <a:solidFill>
                  <a:schemeClr val="bg1"/>
                </a:solidFill>
              </a:rPr>
              <a:t> between these factors and ticket price</a:t>
            </a:r>
          </a:p>
          <a:p>
            <a:r>
              <a:rPr lang="en-US" sz="2000" b="1" dirty="0">
                <a:solidFill>
                  <a:schemeClr val="accent3"/>
                </a:solidFill>
              </a:rPr>
              <a:t>Test Used</a:t>
            </a:r>
            <a:br>
              <a:rPr lang="en-US" sz="2000" dirty="0">
                <a:solidFill>
                  <a:schemeClr val="bg1"/>
                </a:solidFill>
              </a:rPr>
            </a:br>
            <a:r>
              <a:rPr lang="en-US" sz="2000" dirty="0">
                <a:solidFill>
                  <a:schemeClr val="bg1"/>
                </a:solidFill>
              </a:rPr>
              <a:t>Pearson Correlation &amp; ANOVA to analyze relationships between variables and price</a:t>
            </a:r>
          </a:p>
          <a:p>
            <a:r>
              <a:rPr lang="en-US" sz="2000" b="1" dirty="0">
                <a:solidFill>
                  <a:schemeClr val="accent3"/>
                </a:solidFill>
              </a:rPr>
              <a:t>Result</a:t>
            </a:r>
            <a:br>
              <a:rPr lang="en-US" sz="2000" dirty="0">
                <a:solidFill>
                  <a:schemeClr val="bg1"/>
                </a:solidFill>
              </a:rPr>
            </a:br>
            <a:r>
              <a:rPr lang="en-US" sz="2000" dirty="0">
                <a:solidFill>
                  <a:schemeClr val="bg1"/>
                </a:solidFill>
              </a:rPr>
              <a:t>p-value &lt; 0.05</a:t>
            </a:r>
          </a:p>
          <a:p>
            <a:r>
              <a:rPr lang="en-US" sz="2000" b="1" dirty="0">
                <a:solidFill>
                  <a:schemeClr val="accent3"/>
                </a:solidFill>
              </a:rPr>
              <a:t>Conclusion:</a:t>
            </a:r>
            <a:r>
              <a:rPr lang="en-US" sz="2000" dirty="0">
                <a:solidFill>
                  <a:schemeClr val="accent3"/>
                </a:solidFill>
              </a:rPr>
              <a:t> </a:t>
            </a:r>
            <a:r>
              <a:rPr lang="en-US" sz="2000" dirty="0">
                <a:solidFill>
                  <a:schemeClr val="bg1"/>
                </a:solidFill>
              </a:rPr>
              <a:t>Reject H₀ → Factors like duration, stops, </a:t>
            </a:r>
          </a:p>
          <a:p>
            <a:r>
              <a:rPr lang="en-US" sz="2000" dirty="0">
                <a:solidFill>
                  <a:schemeClr val="bg1"/>
                </a:solidFill>
              </a:rPr>
              <a:t>       and class type significantly affect ticket prices</a:t>
            </a:r>
          </a:p>
          <a:p>
            <a:endParaRPr lang="en-IN" sz="2000" dirty="0"/>
          </a:p>
        </p:txBody>
      </p:sp>
    </p:spTree>
    <p:extLst>
      <p:ext uri="{BB962C8B-B14F-4D97-AF65-F5344CB8AC3E}">
        <p14:creationId xmlns:p14="http://schemas.microsoft.com/office/powerpoint/2010/main" val="13407014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43281" y="251670"/>
            <a:ext cx="11484528" cy="461665"/>
          </a:xfrm>
          <a:prstGeom prst="rect">
            <a:avLst/>
          </a:prstGeom>
          <a:noFill/>
        </p:spPr>
        <p:txBody>
          <a:bodyPr wrap="square" rtlCol="0">
            <a:spAutoFit/>
          </a:bodyPr>
          <a:lstStyle/>
          <a:p>
            <a:pPr algn="ctr"/>
            <a:r>
              <a:rPr lang="en-US" sz="2400" b="1" dirty="0">
                <a:solidFill>
                  <a:srgbClr val="FFC000"/>
                </a:solidFill>
              </a:rPr>
              <a:t>STATISTICAL ANALYSIS</a:t>
            </a:r>
            <a:endParaRPr lang="en-IN" sz="2400" dirty="0">
              <a:solidFill>
                <a:srgbClr val="FFC000"/>
              </a:solidFill>
            </a:endParaRPr>
          </a:p>
        </p:txBody>
      </p:sp>
      <p:sp>
        <p:nvSpPr>
          <p:cNvPr id="4" name="TextBox 3"/>
          <p:cNvSpPr txBox="1"/>
          <p:nvPr/>
        </p:nvSpPr>
        <p:spPr>
          <a:xfrm>
            <a:off x="243281" y="1124124"/>
            <a:ext cx="10075178" cy="2554545"/>
          </a:xfrm>
          <a:prstGeom prst="rect">
            <a:avLst/>
          </a:prstGeom>
          <a:noFill/>
        </p:spPr>
        <p:txBody>
          <a:bodyPr wrap="square" rtlCol="0">
            <a:spAutoFit/>
          </a:bodyPr>
          <a:lstStyle/>
          <a:p>
            <a:r>
              <a:rPr lang="en-US" sz="2000" b="1" dirty="0">
                <a:solidFill>
                  <a:schemeClr val="accent3"/>
                </a:solidFill>
              </a:rPr>
              <a:t>Correlation Analysis</a:t>
            </a:r>
            <a:endParaRPr lang="en-US" sz="2000" dirty="0">
              <a:solidFill>
                <a:schemeClr val="accent3"/>
              </a:solidFill>
            </a:endParaRPr>
          </a:p>
          <a:p>
            <a:r>
              <a:rPr lang="en-US" sz="2000" dirty="0">
                <a:solidFill>
                  <a:schemeClr val="bg1"/>
                </a:solidFill>
              </a:rPr>
              <a:t>Positive correlation between </a:t>
            </a:r>
            <a:r>
              <a:rPr lang="en-US" sz="2000" b="1" dirty="0">
                <a:solidFill>
                  <a:schemeClr val="bg1"/>
                </a:solidFill>
              </a:rPr>
              <a:t>duration and price</a:t>
            </a:r>
            <a:r>
              <a:rPr lang="en-US" sz="2000" dirty="0">
                <a:solidFill>
                  <a:schemeClr val="bg1"/>
                </a:solidFill>
              </a:rPr>
              <a:t> </a:t>
            </a:r>
          </a:p>
          <a:p>
            <a:r>
              <a:rPr lang="en-US" sz="2000" dirty="0">
                <a:solidFill>
                  <a:schemeClr val="bg1"/>
                </a:solidFill>
              </a:rPr>
              <a:t>Strong impact of </a:t>
            </a:r>
            <a:r>
              <a:rPr lang="en-US" sz="2000" b="1" dirty="0">
                <a:solidFill>
                  <a:schemeClr val="bg1"/>
                </a:solidFill>
              </a:rPr>
              <a:t>class type (business &gt; economy)</a:t>
            </a:r>
            <a:r>
              <a:rPr lang="en-US" sz="2000" dirty="0">
                <a:solidFill>
                  <a:schemeClr val="bg1"/>
                </a:solidFill>
              </a:rPr>
              <a:t> </a:t>
            </a:r>
          </a:p>
          <a:p>
            <a:r>
              <a:rPr lang="en-US" sz="2000" dirty="0">
                <a:solidFill>
                  <a:schemeClr val="bg1"/>
                </a:solidFill>
              </a:rPr>
              <a:t>Moderate effect of </a:t>
            </a:r>
            <a:r>
              <a:rPr lang="en-US" sz="2000" b="1" dirty="0">
                <a:solidFill>
                  <a:schemeClr val="bg1"/>
                </a:solidFill>
              </a:rPr>
              <a:t>number of stops</a:t>
            </a:r>
            <a:r>
              <a:rPr lang="en-US" sz="2000" dirty="0">
                <a:solidFill>
                  <a:schemeClr val="bg1"/>
                </a:solidFill>
              </a:rPr>
              <a:t> </a:t>
            </a:r>
          </a:p>
          <a:p>
            <a:r>
              <a:rPr lang="en-US" sz="2000" b="1" dirty="0">
                <a:solidFill>
                  <a:schemeClr val="accent3"/>
                </a:solidFill>
              </a:rPr>
              <a:t>Statistical Significance</a:t>
            </a:r>
            <a:br>
              <a:rPr lang="en-US" sz="2000" dirty="0">
                <a:solidFill>
                  <a:schemeClr val="bg1"/>
                </a:solidFill>
              </a:rPr>
            </a:br>
            <a:r>
              <a:rPr lang="en-US" sz="2000" dirty="0">
                <a:solidFill>
                  <a:schemeClr val="bg1"/>
                </a:solidFill>
              </a:rPr>
              <a:t>Analysis performed at </a:t>
            </a:r>
            <a:r>
              <a:rPr lang="en-US" sz="2000" b="1" dirty="0">
                <a:solidFill>
                  <a:schemeClr val="bg1"/>
                </a:solidFill>
              </a:rPr>
              <a:t>95% confidence level</a:t>
            </a:r>
            <a:endParaRPr lang="en-US" sz="2000" dirty="0">
              <a:solidFill>
                <a:schemeClr val="bg1"/>
              </a:solidFill>
            </a:endParaRPr>
          </a:p>
          <a:p>
            <a:r>
              <a:rPr lang="en-US" sz="2000" b="1" dirty="0">
                <a:solidFill>
                  <a:schemeClr val="accent3"/>
                </a:solidFill>
              </a:rPr>
              <a:t>Tools Used</a:t>
            </a:r>
            <a:br>
              <a:rPr lang="en-US" sz="2000" dirty="0">
                <a:solidFill>
                  <a:schemeClr val="bg1"/>
                </a:solidFill>
              </a:rPr>
            </a:br>
            <a:r>
              <a:rPr lang="en-US" sz="2000" dirty="0">
                <a:solidFill>
                  <a:schemeClr val="bg1"/>
                </a:solidFill>
              </a:rPr>
              <a:t>Python (</a:t>
            </a:r>
            <a:r>
              <a:rPr lang="en-US" sz="2000" dirty="0" err="1">
                <a:solidFill>
                  <a:schemeClr val="bg1"/>
                </a:solidFill>
              </a:rPr>
              <a:t>scipy.stats</a:t>
            </a:r>
            <a:r>
              <a:rPr lang="en-US" sz="2000" dirty="0">
                <a:solidFill>
                  <a:schemeClr val="bg1"/>
                </a:solidFill>
              </a:rPr>
              <a:t>, </a:t>
            </a:r>
            <a:r>
              <a:rPr lang="en-US" sz="2000" dirty="0" err="1">
                <a:solidFill>
                  <a:schemeClr val="bg1"/>
                </a:solidFill>
              </a:rPr>
              <a:t>statsmodels</a:t>
            </a:r>
            <a:r>
              <a:rPr lang="en-US" sz="2000" dirty="0">
                <a:solidFill>
                  <a:schemeClr val="bg1"/>
                </a:solidFill>
              </a:rPr>
              <a:t>) and </a:t>
            </a:r>
            <a:r>
              <a:rPr lang="en-US" sz="2000" dirty="0" err="1">
                <a:solidFill>
                  <a:schemeClr val="bg1"/>
                </a:solidFill>
              </a:rPr>
              <a:t>Jupyter</a:t>
            </a:r>
            <a:r>
              <a:rPr lang="en-US" sz="2000" dirty="0">
                <a:solidFill>
                  <a:schemeClr val="bg1"/>
                </a:solidFill>
              </a:rPr>
              <a:t> Notebook</a:t>
            </a:r>
          </a:p>
        </p:txBody>
      </p:sp>
      <p:pic>
        <p:nvPicPr>
          <p:cNvPr id="8" name="Picture 7">
            <a:extLst>
              <a:ext uri="{FF2B5EF4-FFF2-40B4-BE49-F238E27FC236}">
                <a16:creationId xmlns:a16="http://schemas.microsoft.com/office/drawing/2014/main" id="{1709DD4A-5593-4766-A155-F19C76D4C4E7}"/>
              </a:ext>
            </a:extLst>
          </p:cNvPr>
          <p:cNvPicPr>
            <a:picLocks noChangeAspect="1"/>
          </p:cNvPicPr>
          <p:nvPr/>
        </p:nvPicPr>
        <p:blipFill>
          <a:blip r:embed="rId3"/>
          <a:stretch>
            <a:fillRect/>
          </a:stretch>
        </p:blipFill>
        <p:spPr>
          <a:xfrm>
            <a:off x="6358855" y="871850"/>
            <a:ext cx="5772273" cy="4731995"/>
          </a:xfrm>
          <a:prstGeom prst="rect">
            <a:avLst/>
          </a:prstGeom>
        </p:spPr>
      </p:pic>
    </p:spTree>
    <p:extLst>
      <p:ext uri="{BB962C8B-B14F-4D97-AF65-F5344CB8AC3E}">
        <p14:creationId xmlns:p14="http://schemas.microsoft.com/office/powerpoint/2010/main" val="2779164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43281" y="251670"/>
            <a:ext cx="11484528" cy="461665"/>
          </a:xfrm>
          <a:prstGeom prst="rect">
            <a:avLst/>
          </a:prstGeom>
          <a:noFill/>
        </p:spPr>
        <p:txBody>
          <a:bodyPr wrap="square" rtlCol="0">
            <a:spAutoFit/>
          </a:bodyPr>
          <a:lstStyle/>
          <a:p>
            <a:pPr algn="ctr"/>
            <a:r>
              <a:rPr lang="en-US" sz="2400" b="1" dirty="0">
                <a:solidFill>
                  <a:srgbClr val="FFC000"/>
                </a:solidFill>
              </a:rPr>
              <a:t>STATISTICAL ANALYSIS</a:t>
            </a:r>
            <a:endParaRPr lang="en-IN" sz="2400" dirty="0">
              <a:solidFill>
                <a:srgbClr val="FFC000"/>
              </a:solidFill>
            </a:endParaRPr>
          </a:p>
        </p:txBody>
      </p:sp>
      <p:sp>
        <p:nvSpPr>
          <p:cNvPr id="4" name="TextBox 3"/>
          <p:cNvSpPr txBox="1"/>
          <p:nvPr/>
        </p:nvSpPr>
        <p:spPr>
          <a:xfrm>
            <a:off x="243281" y="1124124"/>
            <a:ext cx="10075178" cy="4370427"/>
          </a:xfrm>
          <a:prstGeom prst="rect">
            <a:avLst/>
          </a:prstGeom>
          <a:noFill/>
        </p:spPr>
        <p:txBody>
          <a:bodyPr wrap="square" rtlCol="0">
            <a:spAutoFit/>
          </a:bodyPr>
          <a:lstStyle/>
          <a:p>
            <a:r>
              <a:rPr lang="en-IN" sz="2000" b="1" dirty="0">
                <a:solidFill>
                  <a:srgbClr val="FFFF00"/>
                </a:solidFill>
              </a:rPr>
              <a:t>Predictive Model</a:t>
            </a:r>
          </a:p>
          <a:p>
            <a:r>
              <a:rPr lang="en-IN" sz="2000" b="1" dirty="0">
                <a:solidFill>
                  <a:srgbClr val="FFC000"/>
                </a:solidFill>
              </a:rPr>
              <a:t>Model:</a:t>
            </a:r>
            <a:r>
              <a:rPr lang="en-IN" sz="2000" dirty="0">
                <a:solidFill>
                  <a:srgbClr val="FFC000"/>
                </a:solidFill>
              </a:rPr>
              <a:t> </a:t>
            </a:r>
            <a:r>
              <a:rPr lang="en-IN" sz="2000" dirty="0">
                <a:solidFill>
                  <a:schemeClr val="bg1"/>
                </a:solidFill>
              </a:rPr>
              <a:t>Linear Regression </a:t>
            </a:r>
          </a:p>
          <a:p>
            <a:r>
              <a:rPr lang="en-IN" sz="2000" b="1" dirty="0">
                <a:solidFill>
                  <a:srgbClr val="FFC000"/>
                </a:solidFill>
              </a:rPr>
              <a:t>Target:</a:t>
            </a:r>
            <a:r>
              <a:rPr lang="en-IN" sz="2000" dirty="0">
                <a:solidFill>
                  <a:srgbClr val="FFC000"/>
                </a:solidFill>
              </a:rPr>
              <a:t> </a:t>
            </a:r>
            <a:r>
              <a:rPr lang="en-IN" sz="2000" dirty="0">
                <a:solidFill>
                  <a:schemeClr val="bg1"/>
                </a:solidFill>
              </a:rPr>
              <a:t>Ticket Price </a:t>
            </a:r>
          </a:p>
          <a:p>
            <a:r>
              <a:rPr lang="en-IN" sz="2000" b="1" dirty="0">
                <a:solidFill>
                  <a:srgbClr val="FFC000"/>
                </a:solidFill>
              </a:rPr>
              <a:t>Feature:</a:t>
            </a:r>
            <a:r>
              <a:rPr lang="en-IN" sz="2000" dirty="0">
                <a:solidFill>
                  <a:srgbClr val="FFC000"/>
                </a:solidFill>
              </a:rPr>
              <a:t> </a:t>
            </a:r>
            <a:r>
              <a:rPr lang="en-IN" sz="2000" dirty="0">
                <a:solidFill>
                  <a:schemeClr val="bg1"/>
                </a:solidFill>
              </a:rPr>
              <a:t>Flight Duration </a:t>
            </a:r>
          </a:p>
          <a:p>
            <a:r>
              <a:rPr lang="en-IN" sz="2000" b="1" dirty="0">
                <a:solidFill>
                  <a:srgbClr val="FFC000"/>
                </a:solidFill>
              </a:rPr>
              <a:t>Split:</a:t>
            </a:r>
            <a:r>
              <a:rPr lang="en-IN" sz="2000" dirty="0">
                <a:solidFill>
                  <a:srgbClr val="FFC000"/>
                </a:solidFill>
              </a:rPr>
              <a:t> </a:t>
            </a:r>
            <a:r>
              <a:rPr lang="en-IN" sz="2000" dirty="0">
                <a:solidFill>
                  <a:schemeClr val="bg1"/>
                </a:solidFill>
              </a:rPr>
              <a:t>80% Train | 20% Test </a:t>
            </a:r>
          </a:p>
          <a:p>
            <a:r>
              <a:rPr lang="en-IN" sz="2000" b="1" dirty="0">
                <a:solidFill>
                  <a:srgbClr val="FFC000"/>
                </a:solidFill>
              </a:rPr>
              <a:t>Metric:</a:t>
            </a:r>
            <a:r>
              <a:rPr lang="en-IN" sz="2000" dirty="0">
                <a:solidFill>
                  <a:srgbClr val="FFC000"/>
                </a:solidFill>
              </a:rPr>
              <a:t> </a:t>
            </a:r>
            <a:r>
              <a:rPr lang="en-IN" sz="2000" dirty="0">
                <a:solidFill>
                  <a:schemeClr val="bg1"/>
                </a:solidFill>
              </a:rPr>
              <a:t>RMSE </a:t>
            </a:r>
          </a:p>
          <a:p>
            <a:r>
              <a:rPr lang="en-IN" sz="2000" b="1" dirty="0">
                <a:solidFill>
                  <a:srgbClr val="FFC000"/>
                </a:solidFill>
              </a:rPr>
              <a:t>Result:</a:t>
            </a:r>
            <a:endParaRPr lang="en-IN" sz="2000" dirty="0">
              <a:solidFill>
                <a:srgbClr val="FFC000"/>
              </a:solidFill>
            </a:endParaRPr>
          </a:p>
          <a:p>
            <a:r>
              <a:rPr lang="en-IN" sz="2000" dirty="0">
                <a:solidFill>
                  <a:schemeClr val="bg1"/>
                </a:solidFill>
              </a:rPr>
              <a:t>Slight positive relationship between duration &amp; price </a:t>
            </a:r>
          </a:p>
          <a:p>
            <a:r>
              <a:rPr lang="en-IN" sz="2000" dirty="0">
                <a:solidFill>
                  <a:schemeClr val="bg1"/>
                </a:solidFill>
              </a:rPr>
              <a:t>Duration alone gives limited accuracy </a:t>
            </a:r>
          </a:p>
          <a:p>
            <a:r>
              <a:rPr lang="en-IN" sz="2000" b="1" dirty="0">
                <a:solidFill>
                  <a:srgbClr val="FFC000"/>
                </a:solidFill>
              </a:rPr>
              <a:t>Limitations:</a:t>
            </a:r>
            <a:endParaRPr lang="en-IN" sz="2000" dirty="0">
              <a:solidFill>
                <a:srgbClr val="FFC000"/>
              </a:solidFill>
            </a:endParaRPr>
          </a:p>
          <a:p>
            <a:r>
              <a:rPr lang="en-IN" sz="2000" dirty="0">
                <a:solidFill>
                  <a:schemeClr val="bg1"/>
                </a:solidFill>
              </a:rPr>
              <a:t>Assumes linear relationship </a:t>
            </a:r>
          </a:p>
          <a:p>
            <a:r>
              <a:rPr lang="en-IN" sz="2000" dirty="0">
                <a:solidFill>
                  <a:schemeClr val="bg1"/>
                </a:solidFill>
              </a:rPr>
              <a:t>Ignores other important factors (airline, stops, class) </a:t>
            </a:r>
          </a:p>
          <a:p>
            <a:r>
              <a:rPr lang="en-IN" sz="2000" dirty="0">
                <a:solidFill>
                  <a:schemeClr val="bg1"/>
                </a:solidFill>
              </a:rPr>
              <a:t>May </a:t>
            </a:r>
            <a:r>
              <a:rPr lang="en-IN" sz="2000" dirty="0" err="1">
                <a:solidFill>
                  <a:schemeClr val="bg1"/>
                </a:solidFill>
              </a:rPr>
              <a:t>underfit</a:t>
            </a:r>
            <a:r>
              <a:rPr lang="en-IN" sz="2000" dirty="0">
                <a:solidFill>
                  <a:schemeClr val="bg1"/>
                </a:solidFill>
              </a:rPr>
              <a:t> due to simplicity</a:t>
            </a:r>
          </a:p>
          <a:p>
            <a:endParaRPr lang="en-US" sz="2000" dirty="0"/>
          </a:p>
        </p:txBody>
      </p:sp>
      <p:pic>
        <p:nvPicPr>
          <p:cNvPr id="9" name="Picture 8">
            <a:extLst>
              <a:ext uri="{FF2B5EF4-FFF2-40B4-BE49-F238E27FC236}">
                <a16:creationId xmlns:a16="http://schemas.microsoft.com/office/drawing/2014/main" id="{20DB5109-296E-46A3-BE30-D17F42188509}"/>
              </a:ext>
            </a:extLst>
          </p:cNvPr>
          <p:cNvPicPr>
            <a:picLocks noChangeAspect="1"/>
          </p:cNvPicPr>
          <p:nvPr/>
        </p:nvPicPr>
        <p:blipFill>
          <a:blip r:embed="rId3"/>
          <a:stretch>
            <a:fillRect/>
          </a:stretch>
        </p:blipFill>
        <p:spPr>
          <a:xfrm>
            <a:off x="5943600" y="1026743"/>
            <a:ext cx="5958286" cy="4962995"/>
          </a:xfrm>
          <a:prstGeom prst="rect">
            <a:avLst/>
          </a:prstGeom>
        </p:spPr>
      </p:pic>
    </p:spTree>
    <p:extLst>
      <p:ext uri="{BB962C8B-B14F-4D97-AF65-F5344CB8AC3E}">
        <p14:creationId xmlns:p14="http://schemas.microsoft.com/office/powerpoint/2010/main" val="3508124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461665"/>
          </a:xfrm>
          <a:prstGeom prst="rect">
            <a:avLst/>
          </a:prstGeom>
          <a:noFill/>
        </p:spPr>
        <p:txBody>
          <a:bodyPr wrap="square" rtlCol="0">
            <a:spAutoFit/>
          </a:bodyPr>
          <a:lstStyle/>
          <a:p>
            <a:pPr algn="ctr"/>
            <a:r>
              <a:rPr lang="en-US" sz="2400" b="1" dirty="0">
                <a:solidFill>
                  <a:srgbClr val="FFC000"/>
                </a:solidFill>
              </a:rPr>
              <a:t>RESULTS &amp; INTERPRETATION</a:t>
            </a:r>
            <a:endParaRPr lang="en-IN" sz="2400" dirty="0">
              <a:solidFill>
                <a:srgbClr val="FFC000"/>
              </a:solidFill>
            </a:endParaRPr>
          </a:p>
        </p:txBody>
      </p:sp>
      <p:sp>
        <p:nvSpPr>
          <p:cNvPr id="4" name="TextBox 3"/>
          <p:cNvSpPr txBox="1"/>
          <p:nvPr/>
        </p:nvSpPr>
        <p:spPr>
          <a:xfrm>
            <a:off x="234891" y="1333850"/>
            <a:ext cx="9177557" cy="4062651"/>
          </a:xfrm>
          <a:prstGeom prst="rect">
            <a:avLst/>
          </a:prstGeom>
          <a:noFill/>
        </p:spPr>
        <p:txBody>
          <a:bodyPr wrap="square" rtlCol="0">
            <a:spAutoFit/>
          </a:bodyPr>
          <a:lstStyle/>
          <a:p>
            <a:r>
              <a:rPr lang="en-US" sz="2400" b="1" dirty="0">
                <a:solidFill>
                  <a:schemeClr val="accent2"/>
                </a:solidFill>
              </a:rPr>
              <a:t>Final Outcomes of the Project</a:t>
            </a:r>
          </a:p>
          <a:p>
            <a:r>
              <a:rPr lang="en-US" b="1" dirty="0">
                <a:solidFill>
                  <a:schemeClr val="bg1"/>
                </a:solidFill>
              </a:rPr>
              <a:t>Output 1: Visualizations</a:t>
            </a:r>
            <a:endParaRPr lang="en-US" dirty="0">
              <a:solidFill>
                <a:schemeClr val="bg1"/>
              </a:solidFill>
            </a:endParaRPr>
          </a:p>
          <a:p>
            <a:r>
              <a:rPr lang="en-US" dirty="0">
                <a:solidFill>
                  <a:schemeClr val="bg1"/>
                </a:solidFill>
              </a:rPr>
              <a:t>Created </a:t>
            </a:r>
            <a:r>
              <a:rPr lang="en-US" b="1" dirty="0">
                <a:solidFill>
                  <a:schemeClr val="bg1"/>
                </a:solidFill>
              </a:rPr>
              <a:t>multiple charts</a:t>
            </a:r>
            <a:r>
              <a:rPr lang="en-US" dirty="0">
                <a:solidFill>
                  <a:schemeClr val="bg1"/>
                </a:solidFill>
              </a:rPr>
              <a:t> including bar charts, line plots, and</a:t>
            </a:r>
          </a:p>
          <a:p>
            <a:r>
              <a:rPr lang="en-US" dirty="0">
                <a:solidFill>
                  <a:schemeClr val="bg1"/>
                </a:solidFill>
              </a:rPr>
              <a:t>Visualized relationships between </a:t>
            </a:r>
            <a:r>
              <a:rPr lang="en-US" b="1" dirty="0">
                <a:solidFill>
                  <a:schemeClr val="bg1"/>
                </a:solidFill>
              </a:rPr>
              <a:t>price, duration, stops, airline, and class type</a:t>
            </a:r>
            <a:r>
              <a:rPr lang="en-US" dirty="0">
                <a:solidFill>
                  <a:schemeClr val="bg1"/>
                </a:solidFill>
              </a:rPr>
              <a:t> </a:t>
            </a:r>
          </a:p>
          <a:p>
            <a:r>
              <a:rPr lang="en-US" b="1" dirty="0">
                <a:solidFill>
                  <a:schemeClr val="bg1"/>
                </a:solidFill>
              </a:rPr>
              <a:t>Output 2: Model Performance</a:t>
            </a:r>
            <a:endParaRPr lang="en-US" dirty="0">
              <a:solidFill>
                <a:schemeClr val="bg1"/>
              </a:solidFill>
            </a:endParaRPr>
          </a:p>
          <a:p>
            <a:r>
              <a:rPr lang="en-US" dirty="0">
                <a:solidFill>
                  <a:schemeClr val="bg1"/>
                </a:solidFill>
              </a:rPr>
              <a:t>Built a </a:t>
            </a:r>
            <a:r>
              <a:rPr lang="en-US" b="1" dirty="0">
                <a:solidFill>
                  <a:schemeClr val="bg1"/>
                </a:solidFill>
              </a:rPr>
              <a:t>Linear Regression model</a:t>
            </a:r>
            <a:r>
              <a:rPr lang="en-US" dirty="0">
                <a:solidFill>
                  <a:schemeClr val="bg1"/>
                </a:solidFill>
              </a:rPr>
              <a:t> for price prediction </a:t>
            </a:r>
          </a:p>
          <a:p>
            <a:r>
              <a:rPr lang="en-US" dirty="0">
                <a:solidFill>
                  <a:schemeClr val="bg1"/>
                </a:solidFill>
              </a:rPr>
              <a:t>Achieved reliable performance using RMSE as evaluation metric </a:t>
            </a:r>
          </a:p>
          <a:p>
            <a:r>
              <a:rPr lang="en-US" dirty="0">
                <a:solidFill>
                  <a:schemeClr val="bg1"/>
                </a:solidFill>
              </a:rPr>
              <a:t>Identified key factors influencing airfare pricing </a:t>
            </a:r>
          </a:p>
          <a:p>
            <a:r>
              <a:rPr lang="en-US" b="1" dirty="0">
                <a:solidFill>
                  <a:schemeClr val="bg1"/>
                </a:solidFill>
              </a:rPr>
              <a:t>Output 3: Deliverables</a:t>
            </a:r>
            <a:endParaRPr lang="en-US" dirty="0">
              <a:solidFill>
                <a:schemeClr val="bg1"/>
              </a:solidFill>
            </a:endParaRPr>
          </a:p>
          <a:p>
            <a:r>
              <a:rPr lang="en-US" dirty="0">
                <a:solidFill>
                  <a:schemeClr val="bg1"/>
                </a:solidFill>
              </a:rPr>
              <a:t>Complete  with analysis Well-structured </a:t>
            </a:r>
            <a:r>
              <a:rPr lang="en-US" b="1" dirty="0">
                <a:solidFill>
                  <a:schemeClr val="bg1"/>
                </a:solidFill>
              </a:rPr>
              <a:t>presentation</a:t>
            </a:r>
            <a:r>
              <a:rPr lang="en-US" dirty="0">
                <a:solidFill>
                  <a:schemeClr val="bg1"/>
                </a:solidFill>
              </a:rPr>
              <a:t> Visual insights for easy understanding </a:t>
            </a:r>
            <a:r>
              <a:rPr lang="en-US" b="1" dirty="0">
                <a:solidFill>
                  <a:schemeClr val="accent2"/>
                </a:solidFill>
              </a:rPr>
              <a:t>Impact</a:t>
            </a:r>
            <a:br>
              <a:rPr lang="en-US" dirty="0">
                <a:solidFill>
                  <a:schemeClr val="bg1"/>
                </a:solidFill>
              </a:rPr>
            </a:br>
            <a:r>
              <a:rPr lang="en-US" dirty="0">
                <a:solidFill>
                  <a:schemeClr val="bg1"/>
                </a:solidFill>
              </a:rPr>
              <a:t>The project successfully explains </a:t>
            </a:r>
            <a:r>
              <a:rPr lang="en-US" b="1" dirty="0">
                <a:solidFill>
                  <a:schemeClr val="bg1"/>
                </a:solidFill>
              </a:rPr>
              <a:t>why airfare prices vary</a:t>
            </a:r>
            <a:r>
              <a:rPr lang="en-US" dirty="0">
                <a:solidFill>
                  <a:schemeClr val="bg1"/>
                </a:solidFill>
              </a:rPr>
              <a:t> and helps users make </a:t>
            </a:r>
            <a:r>
              <a:rPr lang="en-US" b="1" dirty="0">
                <a:solidFill>
                  <a:schemeClr val="bg1"/>
                </a:solidFill>
              </a:rPr>
              <a:t>better, data-driven travel decisions</a:t>
            </a:r>
            <a:r>
              <a:rPr lang="en-US" dirty="0">
                <a:solidFill>
                  <a:schemeClr val="bg1"/>
                </a:solidFill>
              </a:rPr>
              <a:t>, directly addressing the problem of unpredictable pricing.</a:t>
            </a:r>
          </a:p>
          <a:p>
            <a:endParaRPr lang="en-IN" dirty="0">
              <a:solidFill>
                <a:schemeClr val="bg1"/>
              </a:solidFill>
            </a:endParaRPr>
          </a:p>
        </p:txBody>
      </p:sp>
    </p:spTree>
    <p:extLst>
      <p:ext uri="{BB962C8B-B14F-4D97-AF65-F5344CB8AC3E}">
        <p14:creationId xmlns:p14="http://schemas.microsoft.com/office/powerpoint/2010/main" val="1125442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23220"/>
          </a:xfrm>
          <a:prstGeom prst="rect">
            <a:avLst/>
          </a:prstGeom>
          <a:noFill/>
        </p:spPr>
        <p:txBody>
          <a:bodyPr wrap="square" rtlCol="0">
            <a:spAutoFit/>
          </a:bodyPr>
          <a:lstStyle/>
          <a:p>
            <a:pPr algn="ctr"/>
            <a:r>
              <a:rPr lang="en-US" sz="2800" b="1" dirty="0">
                <a:solidFill>
                  <a:schemeClr val="accent2"/>
                </a:solidFill>
              </a:rPr>
              <a:t>INSIGHTS SUMMARY</a:t>
            </a:r>
            <a:endParaRPr lang="en-IN" sz="2800" dirty="0">
              <a:solidFill>
                <a:schemeClr val="accent2"/>
              </a:solidFill>
            </a:endParaRPr>
          </a:p>
        </p:txBody>
      </p:sp>
      <p:sp>
        <p:nvSpPr>
          <p:cNvPr id="4" name="TextBox 3"/>
          <p:cNvSpPr txBox="1"/>
          <p:nvPr/>
        </p:nvSpPr>
        <p:spPr>
          <a:xfrm>
            <a:off x="234891" y="1333850"/>
            <a:ext cx="9177557" cy="5201424"/>
          </a:xfrm>
          <a:prstGeom prst="rect">
            <a:avLst/>
          </a:prstGeom>
          <a:noFill/>
        </p:spPr>
        <p:txBody>
          <a:bodyPr wrap="square" rtlCol="0">
            <a:spAutoFit/>
          </a:bodyPr>
          <a:lstStyle/>
          <a:p>
            <a:r>
              <a:rPr lang="en-US" sz="3200" b="1" dirty="0">
                <a:solidFill>
                  <a:srgbClr val="FFFF00"/>
                </a:solidFill>
              </a:rPr>
              <a:t>Top 5 Key Findings from the Analysis</a:t>
            </a:r>
          </a:p>
          <a:p>
            <a:r>
              <a:rPr lang="en-US" sz="2000" b="1" dirty="0">
                <a:solidFill>
                  <a:schemeClr val="accent3"/>
                </a:solidFill>
              </a:rPr>
              <a:t>Insight 1: Class Type Impact</a:t>
            </a:r>
            <a:br>
              <a:rPr lang="en-US" sz="2000" dirty="0"/>
            </a:br>
            <a:r>
              <a:rPr lang="en-US" sz="2000" dirty="0">
                <a:solidFill>
                  <a:schemeClr val="bg1"/>
                </a:solidFill>
              </a:rPr>
              <a:t>Business class fares are significantly higher, showing up to 2–3x increase compared to economy class, making it the most influential pricing factor</a:t>
            </a:r>
          </a:p>
          <a:p>
            <a:r>
              <a:rPr lang="en-US" sz="2000" b="1" dirty="0">
                <a:solidFill>
                  <a:schemeClr val="accent3"/>
                </a:solidFill>
              </a:rPr>
              <a:t>Insight 2: Duration </a:t>
            </a:r>
            <a:r>
              <a:rPr lang="en-US" sz="2000" b="1" dirty="0" err="1">
                <a:solidFill>
                  <a:schemeClr val="accent3"/>
                </a:solidFill>
              </a:rPr>
              <a:t>vs</a:t>
            </a:r>
            <a:r>
              <a:rPr lang="en-US" sz="2000" b="1" dirty="0">
                <a:solidFill>
                  <a:schemeClr val="accent3"/>
                </a:solidFill>
              </a:rPr>
              <a:t> Price Trend</a:t>
            </a:r>
            <a:br>
              <a:rPr lang="en-US" sz="2000" dirty="0"/>
            </a:br>
            <a:r>
              <a:rPr lang="en-US" sz="2000" dirty="0">
                <a:solidFill>
                  <a:schemeClr val="bg1"/>
                </a:solidFill>
              </a:rPr>
              <a:t>Flights with longer durations generally have higher ticket prices, indicating a positive relationship between travel time and cost</a:t>
            </a:r>
          </a:p>
          <a:p>
            <a:r>
              <a:rPr lang="en-US" sz="2000" b="1" dirty="0">
                <a:solidFill>
                  <a:schemeClr val="accent3"/>
                </a:solidFill>
              </a:rPr>
              <a:t>Insight 3: Stops Influence Pricing</a:t>
            </a:r>
            <a:br>
              <a:rPr lang="en-US" sz="2000" dirty="0"/>
            </a:br>
            <a:r>
              <a:rPr lang="en-US" sz="2000" dirty="0">
                <a:solidFill>
                  <a:schemeClr val="bg1"/>
                </a:solidFill>
              </a:rPr>
              <a:t>Flights with more stops often have lower prices compared to non-stop flights, highlighting a trade-off between cost and convenience</a:t>
            </a:r>
          </a:p>
          <a:p>
            <a:r>
              <a:rPr lang="en-US" sz="2000" b="1" dirty="0">
                <a:solidFill>
                  <a:schemeClr val="accent3"/>
                </a:solidFill>
              </a:rPr>
              <a:t>Insight 4: Route-Based Variations</a:t>
            </a:r>
            <a:br>
              <a:rPr lang="en-US" sz="2000" dirty="0">
                <a:solidFill>
                  <a:schemeClr val="accent3"/>
                </a:solidFill>
              </a:rPr>
            </a:br>
            <a:r>
              <a:rPr lang="en-US" sz="2000" dirty="0">
                <a:solidFill>
                  <a:schemeClr val="bg1"/>
                </a:solidFill>
              </a:rPr>
              <a:t>Certain source–destination routes consistently show higher fares, suggesting demand and route popularity strongly affect pricing</a:t>
            </a:r>
          </a:p>
          <a:p>
            <a:r>
              <a:rPr lang="en-US" sz="2000" b="1" dirty="0">
                <a:solidFill>
                  <a:schemeClr val="accent3"/>
                </a:solidFill>
              </a:rPr>
              <a:t>Insight 5: Actionable Insight</a:t>
            </a:r>
            <a:br>
              <a:rPr lang="en-US" sz="2000" dirty="0"/>
            </a:br>
            <a:r>
              <a:rPr lang="en-US" sz="2000" dirty="0">
                <a:solidFill>
                  <a:schemeClr val="bg1"/>
                </a:solidFill>
              </a:rPr>
              <a:t>Travelers can save costs by choosing economy class, flexible timings, and flights with 1–2 stops, based on observed pricing patterns</a:t>
            </a:r>
          </a:p>
        </p:txBody>
      </p:sp>
    </p:spTree>
    <p:extLst>
      <p:ext uri="{BB962C8B-B14F-4D97-AF65-F5344CB8AC3E}">
        <p14:creationId xmlns:p14="http://schemas.microsoft.com/office/powerpoint/2010/main" val="464027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23220"/>
          </a:xfrm>
          <a:prstGeom prst="rect">
            <a:avLst/>
          </a:prstGeom>
          <a:noFill/>
        </p:spPr>
        <p:txBody>
          <a:bodyPr wrap="square" rtlCol="0">
            <a:spAutoFit/>
          </a:bodyPr>
          <a:lstStyle/>
          <a:p>
            <a:pPr algn="ctr"/>
            <a:r>
              <a:rPr lang="en-US" sz="2800" b="1" dirty="0">
                <a:solidFill>
                  <a:srgbClr val="FFC000"/>
                </a:solidFill>
              </a:rPr>
              <a:t>CONCLUSION</a:t>
            </a:r>
            <a:endParaRPr lang="en-IN" sz="2800" dirty="0">
              <a:solidFill>
                <a:srgbClr val="FFC000"/>
              </a:solidFill>
            </a:endParaRPr>
          </a:p>
        </p:txBody>
      </p:sp>
      <p:sp>
        <p:nvSpPr>
          <p:cNvPr id="4" name="TextBox 3"/>
          <p:cNvSpPr txBox="1"/>
          <p:nvPr/>
        </p:nvSpPr>
        <p:spPr>
          <a:xfrm>
            <a:off x="234891" y="1333850"/>
            <a:ext cx="9177557" cy="5201424"/>
          </a:xfrm>
          <a:prstGeom prst="rect">
            <a:avLst/>
          </a:prstGeom>
          <a:noFill/>
        </p:spPr>
        <p:txBody>
          <a:bodyPr wrap="square" rtlCol="0">
            <a:spAutoFit/>
          </a:bodyPr>
          <a:lstStyle/>
          <a:p>
            <a:r>
              <a:rPr lang="en-US" sz="3200" b="1" dirty="0">
                <a:solidFill>
                  <a:srgbClr val="FFFF00"/>
                </a:solidFill>
              </a:rPr>
              <a:t>Top 5 Key Findings from the Analysis</a:t>
            </a:r>
          </a:p>
          <a:p>
            <a:r>
              <a:rPr lang="en-US" sz="2000" b="1" dirty="0">
                <a:solidFill>
                  <a:schemeClr val="accent3"/>
                </a:solidFill>
              </a:rPr>
              <a:t>Insight 1: Class Type Impact</a:t>
            </a:r>
            <a:br>
              <a:rPr lang="en-US" sz="2000" dirty="0"/>
            </a:br>
            <a:r>
              <a:rPr lang="en-US" sz="2000" dirty="0"/>
              <a:t>Business class fares are significantly higher, showing up to 2–3x increase compared to economy class, making it the most influential pricing factor</a:t>
            </a:r>
          </a:p>
          <a:p>
            <a:r>
              <a:rPr lang="en-US" sz="2000" b="1" dirty="0">
                <a:solidFill>
                  <a:schemeClr val="accent3"/>
                </a:solidFill>
              </a:rPr>
              <a:t>Insight 2: Duration </a:t>
            </a:r>
            <a:r>
              <a:rPr lang="en-US" sz="2000" b="1" dirty="0" err="1">
                <a:solidFill>
                  <a:schemeClr val="accent3"/>
                </a:solidFill>
              </a:rPr>
              <a:t>vs</a:t>
            </a:r>
            <a:r>
              <a:rPr lang="en-US" sz="2000" b="1" dirty="0">
                <a:solidFill>
                  <a:schemeClr val="accent3"/>
                </a:solidFill>
              </a:rPr>
              <a:t> Price Trend</a:t>
            </a:r>
            <a:br>
              <a:rPr lang="en-US" sz="2000" dirty="0"/>
            </a:br>
            <a:r>
              <a:rPr lang="en-US" sz="2000" dirty="0"/>
              <a:t>Flights with longer durations generally have higher ticket prices, indicating a positive relationship between travel time and cost</a:t>
            </a:r>
          </a:p>
          <a:p>
            <a:r>
              <a:rPr lang="en-US" sz="2000" b="1" dirty="0">
                <a:solidFill>
                  <a:schemeClr val="accent3"/>
                </a:solidFill>
              </a:rPr>
              <a:t>Insight 3: Stops Influence Pricing</a:t>
            </a:r>
            <a:br>
              <a:rPr lang="en-US" sz="2000" dirty="0"/>
            </a:br>
            <a:r>
              <a:rPr lang="en-US" sz="2000" dirty="0"/>
              <a:t>Flights with more stops often have lower prices compared to non-stop flights, highlighting a trade-off between cost and convenience</a:t>
            </a:r>
          </a:p>
          <a:p>
            <a:r>
              <a:rPr lang="en-US" sz="2000" b="1" dirty="0">
                <a:solidFill>
                  <a:schemeClr val="accent3"/>
                </a:solidFill>
              </a:rPr>
              <a:t>Insight 4: Route-Based Variations</a:t>
            </a:r>
            <a:br>
              <a:rPr lang="en-US" sz="2000" dirty="0">
                <a:solidFill>
                  <a:schemeClr val="accent3"/>
                </a:solidFill>
              </a:rPr>
            </a:br>
            <a:r>
              <a:rPr lang="en-US" sz="2000" dirty="0"/>
              <a:t>Certain source–destination routes consistently show higher fares, suggesting demand and route popularity strongly affect pricing</a:t>
            </a:r>
          </a:p>
          <a:p>
            <a:r>
              <a:rPr lang="en-US" sz="2000" b="1" dirty="0">
                <a:solidFill>
                  <a:schemeClr val="accent3"/>
                </a:solidFill>
              </a:rPr>
              <a:t>Insight 5: Actionable Insight</a:t>
            </a:r>
            <a:br>
              <a:rPr lang="en-US" sz="2000" dirty="0"/>
            </a:br>
            <a:r>
              <a:rPr lang="en-US" sz="2000" dirty="0"/>
              <a:t>Travelers can save costs by choosing economy class, flexible timings, and flights with 1–2 stops, based on observed pricing patterns</a:t>
            </a:r>
          </a:p>
        </p:txBody>
      </p:sp>
    </p:spTree>
    <p:extLst>
      <p:ext uri="{BB962C8B-B14F-4D97-AF65-F5344CB8AC3E}">
        <p14:creationId xmlns:p14="http://schemas.microsoft.com/office/powerpoint/2010/main" val="1641996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23220"/>
          </a:xfrm>
          <a:prstGeom prst="rect">
            <a:avLst/>
          </a:prstGeom>
          <a:noFill/>
        </p:spPr>
        <p:txBody>
          <a:bodyPr wrap="square" rtlCol="0">
            <a:spAutoFit/>
          </a:bodyPr>
          <a:lstStyle/>
          <a:p>
            <a:pPr algn="ctr"/>
            <a:r>
              <a:rPr lang="en-US" sz="2800" b="1" dirty="0">
                <a:solidFill>
                  <a:srgbClr val="FFC000"/>
                </a:solidFill>
              </a:rPr>
              <a:t>CONCLUSION</a:t>
            </a:r>
            <a:endParaRPr lang="en-IN" sz="2800" dirty="0">
              <a:solidFill>
                <a:srgbClr val="FFC000"/>
              </a:solidFill>
            </a:endParaRPr>
          </a:p>
        </p:txBody>
      </p:sp>
      <p:sp>
        <p:nvSpPr>
          <p:cNvPr id="4" name="TextBox 3"/>
          <p:cNvSpPr txBox="1"/>
          <p:nvPr/>
        </p:nvSpPr>
        <p:spPr>
          <a:xfrm>
            <a:off x="234891" y="1333850"/>
            <a:ext cx="9177557" cy="4955203"/>
          </a:xfrm>
          <a:prstGeom prst="rect">
            <a:avLst/>
          </a:prstGeom>
          <a:noFill/>
        </p:spPr>
        <p:txBody>
          <a:bodyPr wrap="square" rtlCol="0">
            <a:spAutoFit/>
          </a:bodyPr>
          <a:lstStyle/>
          <a:p>
            <a:r>
              <a:rPr lang="en-US" sz="3600" b="1" dirty="0">
                <a:solidFill>
                  <a:schemeClr val="bg1"/>
                </a:solidFill>
              </a:rPr>
              <a:t>Summary of Leanings</a:t>
            </a:r>
          </a:p>
          <a:p>
            <a:r>
              <a:rPr lang="en-US" sz="2000" dirty="0">
                <a:solidFill>
                  <a:schemeClr val="bg1"/>
                </a:solidFill>
              </a:rPr>
              <a:t>The project successfully analyzed airfare datasets (economy and business class) to understand how various factors influence ticket pricing</a:t>
            </a:r>
          </a:p>
          <a:p>
            <a:r>
              <a:rPr lang="en-US" sz="2000" b="1" dirty="0">
                <a:solidFill>
                  <a:srgbClr val="FFC000"/>
                </a:solidFill>
              </a:rPr>
              <a:t>Major Finding</a:t>
            </a:r>
            <a:br>
              <a:rPr lang="en-US" sz="2000" dirty="0">
                <a:solidFill>
                  <a:srgbClr val="FFC000"/>
                </a:solidFill>
              </a:rPr>
            </a:br>
            <a:r>
              <a:rPr lang="en-US" sz="2000" dirty="0">
                <a:solidFill>
                  <a:schemeClr val="bg1"/>
                </a:solidFill>
              </a:rPr>
              <a:t>Class type, duration, and number of stops are the key factors driving airfare price variations</a:t>
            </a:r>
          </a:p>
          <a:p>
            <a:r>
              <a:rPr lang="en-US" sz="2000" b="1" dirty="0">
                <a:solidFill>
                  <a:srgbClr val="FFC000"/>
                </a:solidFill>
              </a:rPr>
              <a:t>Skills Demonstrated</a:t>
            </a:r>
            <a:br>
              <a:rPr lang="en-US" sz="2000" dirty="0">
                <a:solidFill>
                  <a:srgbClr val="FFC000"/>
                </a:solidFill>
              </a:rPr>
            </a:br>
            <a:r>
              <a:rPr lang="en-US" sz="2000" dirty="0">
                <a:solidFill>
                  <a:schemeClr val="bg1"/>
                </a:solidFill>
              </a:rPr>
              <a:t>Exploratory Data Analysis (EDA), Data Visualization, and Basic Predictive Modeling</a:t>
            </a:r>
          </a:p>
          <a:p>
            <a:r>
              <a:rPr lang="en-US" sz="2000" b="1" dirty="0">
                <a:solidFill>
                  <a:srgbClr val="FFC000"/>
                </a:solidFill>
              </a:rPr>
              <a:t>Tools Mastered</a:t>
            </a:r>
            <a:br>
              <a:rPr lang="en-US" sz="2000" dirty="0">
                <a:solidFill>
                  <a:schemeClr val="bg1"/>
                </a:solidFill>
              </a:rPr>
            </a:br>
            <a:r>
              <a:rPr lang="en-US" sz="2000" dirty="0">
                <a:solidFill>
                  <a:schemeClr val="bg1"/>
                </a:solidFill>
              </a:rPr>
              <a:t>Python (Pandas, </a:t>
            </a:r>
            <a:r>
              <a:rPr lang="en-US" sz="2000" dirty="0" err="1">
                <a:solidFill>
                  <a:schemeClr val="bg1"/>
                </a:solidFill>
              </a:rPr>
              <a:t>NumPy</a:t>
            </a:r>
            <a:r>
              <a:rPr lang="en-US" sz="2000" dirty="0">
                <a:solidFill>
                  <a:schemeClr val="bg1"/>
                </a:solidFill>
              </a:rPr>
              <a:t>, </a:t>
            </a:r>
            <a:r>
              <a:rPr lang="en-US" sz="2000" dirty="0" err="1">
                <a:solidFill>
                  <a:schemeClr val="bg1"/>
                </a:solidFill>
              </a:rPr>
              <a:t>Matplotlib</a:t>
            </a:r>
            <a:r>
              <a:rPr lang="en-US" sz="2000" dirty="0">
                <a:solidFill>
                  <a:schemeClr val="bg1"/>
                </a:solidFill>
              </a:rPr>
              <a:t>, </a:t>
            </a:r>
            <a:r>
              <a:rPr lang="en-US" sz="2000" dirty="0" err="1">
                <a:solidFill>
                  <a:schemeClr val="bg1"/>
                </a:solidFill>
              </a:rPr>
              <a:t>Seaborn</a:t>
            </a:r>
            <a:r>
              <a:rPr lang="en-US" sz="2000" dirty="0">
                <a:solidFill>
                  <a:schemeClr val="bg1"/>
                </a:solidFill>
              </a:rPr>
              <a:t>), SQL, </a:t>
            </a:r>
          </a:p>
          <a:p>
            <a:r>
              <a:rPr lang="en-US" sz="2000" dirty="0">
                <a:solidFill>
                  <a:schemeClr val="bg1"/>
                </a:solidFill>
              </a:rPr>
              <a:t>The visualizations effectively communicated pricing trends and relationships between key variables to stakeholders</a:t>
            </a:r>
          </a:p>
          <a:p>
            <a:r>
              <a:rPr lang="en-US" sz="2000" b="1" dirty="0">
                <a:solidFill>
                  <a:srgbClr val="FFC000"/>
                </a:solidFill>
              </a:rPr>
              <a:t>Overall Learning</a:t>
            </a:r>
            <a:br>
              <a:rPr lang="en-US" sz="2000" dirty="0">
                <a:solidFill>
                  <a:schemeClr val="bg1"/>
                </a:solidFill>
              </a:rPr>
            </a:br>
            <a:r>
              <a:rPr lang="en-US" sz="2000" dirty="0">
                <a:solidFill>
                  <a:schemeClr val="bg1"/>
                </a:solidFill>
              </a:rPr>
              <a:t>This project enhanced practical knowledge and real-world experience in data analytics and decision-making</a:t>
            </a:r>
          </a:p>
        </p:txBody>
      </p:sp>
    </p:spTree>
    <p:extLst>
      <p:ext uri="{BB962C8B-B14F-4D97-AF65-F5344CB8AC3E}">
        <p14:creationId xmlns:p14="http://schemas.microsoft.com/office/powerpoint/2010/main" val="4121130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23220"/>
          </a:xfrm>
          <a:prstGeom prst="rect">
            <a:avLst/>
          </a:prstGeom>
          <a:noFill/>
        </p:spPr>
        <p:txBody>
          <a:bodyPr wrap="square" rtlCol="0">
            <a:spAutoFit/>
          </a:bodyPr>
          <a:lstStyle/>
          <a:p>
            <a:pPr algn="ctr"/>
            <a:r>
              <a:rPr lang="en-US" sz="2800" b="1" dirty="0">
                <a:solidFill>
                  <a:srgbClr val="FFC000"/>
                </a:solidFill>
              </a:rPr>
              <a:t>LIMITATIONS</a:t>
            </a:r>
            <a:endParaRPr lang="en-IN" sz="2800" dirty="0">
              <a:solidFill>
                <a:srgbClr val="FFC000"/>
              </a:solidFill>
            </a:endParaRPr>
          </a:p>
        </p:txBody>
      </p:sp>
      <p:sp>
        <p:nvSpPr>
          <p:cNvPr id="4" name="TextBox 3"/>
          <p:cNvSpPr txBox="1"/>
          <p:nvPr/>
        </p:nvSpPr>
        <p:spPr>
          <a:xfrm>
            <a:off x="234891" y="1333850"/>
            <a:ext cx="9177557" cy="5201424"/>
          </a:xfrm>
          <a:prstGeom prst="rect">
            <a:avLst/>
          </a:prstGeom>
          <a:noFill/>
        </p:spPr>
        <p:txBody>
          <a:bodyPr wrap="square" rtlCol="0">
            <a:spAutoFit/>
          </a:bodyPr>
          <a:lstStyle/>
          <a:p>
            <a:r>
              <a:rPr lang="en-US" sz="4400" b="1" dirty="0">
                <a:solidFill>
                  <a:srgbClr val="FFC000"/>
                </a:solidFill>
              </a:rPr>
              <a:t>Challenges Faced &amp; Constraints</a:t>
            </a:r>
          </a:p>
          <a:p>
            <a:r>
              <a:rPr lang="en-US" b="1" dirty="0">
                <a:solidFill>
                  <a:schemeClr val="accent2"/>
                </a:solidFill>
              </a:rPr>
              <a:t>Data Size</a:t>
            </a:r>
            <a:br>
              <a:rPr lang="en-US" dirty="0">
                <a:solidFill>
                  <a:schemeClr val="bg1"/>
                </a:solidFill>
              </a:rPr>
            </a:br>
            <a:r>
              <a:rPr lang="en-US" dirty="0">
                <a:solidFill>
                  <a:schemeClr val="bg1"/>
                </a:solidFill>
              </a:rPr>
              <a:t>The dataset was limited in size, which may impact the generalization of findings compared to larger real-world datasets</a:t>
            </a:r>
          </a:p>
          <a:p>
            <a:r>
              <a:rPr lang="en-US" b="1" dirty="0">
                <a:solidFill>
                  <a:schemeClr val="accent2"/>
                </a:solidFill>
              </a:rPr>
              <a:t>Data </a:t>
            </a:r>
            <a:r>
              <a:rPr lang="en-US" b="1" dirty="0" err="1">
                <a:solidFill>
                  <a:schemeClr val="accent2"/>
                </a:solidFill>
              </a:rPr>
              <a:t>Recency</a:t>
            </a:r>
            <a:br>
              <a:rPr lang="en-US" dirty="0">
                <a:solidFill>
                  <a:schemeClr val="bg1"/>
                </a:solidFill>
              </a:rPr>
            </a:br>
            <a:r>
              <a:rPr lang="en-US" dirty="0">
                <a:solidFill>
                  <a:schemeClr val="bg1"/>
                </a:solidFill>
              </a:rPr>
              <a:t>Data represents a specific time period and may not fully reflect current or rapidly changing airfare trends</a:t>
            </a:r>
          </a:p>
          <a:p>
            <a:r>
              <a:rPr lang="en-US" b="1" dirty="0">
                <a:solidFill>
                  <a:schemeClr val="accent2"/>
                </a:solidFill>
              </a:rPr>
              <a:t>Missing Data</a:t>
            </a:r>
            <a:br>
              <a:rPr lang="en-US" dirty="0">
                <a:solidFill>
                  <a:schemeClr val="accent2"/>
                </a:solidFill>
              </a:rPr>
            </a:br>
            <a:r>
              <a:rPr lang="en-US" dirty="0">
                <a:solidFill>
                  <a:schemeClr val="bg1"/>
                </a:solidFill>
              </a:rPr>
              <a:t>Some records contained missing values, requiring preprocessing which may slightly affect analysis accuracy</a:t>
            </a:r>
          </a:p>
          <a:p>
            <a:r>
              <a:rPr lang="en-US" b="1" dirty="0">
                <a:solidFill>
                  <a:schemeClr val="accent2"/>
                </a:solidFill>
              </a:rPr>
              <a:t>Model Accuracy</a:t>
            </a:r>
            <a:br>
              <a:rPr lang="en-US" dirty="0">
                <a:solidFill>
                  <a:schemeClr val="accent2"/>
                </a:solidFill>
              </a:rPr>
            </a:br>
            <a:r>
              <a:rPr lang="en-US" dirty="0">
                <a:solidFill>
                  <a:schemeClr val="bg1"/>
                </a:solidFill>
              </a:rPr>
              <a:t>The Linear Regression model showed moderate accuracy, indicating scope for improvement with advanced models</a:t>
            </a:r>
          </a:p>
          <a:p>
            <a:r>
              <a:rPr lang="en-US" b="1" dirty="0">
                <a:solidFill>
                  <a:schemeClr val="accent2"/>
                </a:solidFill>
              </a:rPr>
              <a:t>Tool Limitations</a:t>
            </a:r>
            <a:br>
              <a:rPr lang="en-US" dirty="0">
                <a:solidFill>
                  <a:schemeClr val="accent2"/>
                </a:solidFill>
              </a:rPr>
            </a:br>
            <a:r>
              <a:rPr lang="en-US" dirty="0">
                <a:solidFill>
                  <a:schemeClr val="bg1"/>
                </a:solidFill>
              </a:rPr>
              <a:t>Use of free tools and local systems imposed constraints on processing power and scalability</a:t>
            </a:r>
          </a:p>
          <a:p>
            <a:r>
              <a:rPr lang="en-US" b="1" dirty="0">
                <a:solidFill>
                  <a:schemeClr val="accent2"/>
                </a:solidFill>
              </a:rPr>
              <a:t>Domain Knowledge</a:t>
            </a:r>
            <a:br>
              <a:rPr lang="en-US" dirty="0">
                <a:solidFill>
                  <a:schemeClr val="accent2"/>
                </a:solidFill>
              </a:rPr>
            </a:br>
            <a:r>
              <a:rPr lang="en-US" dirty="0">
                <a:solidFill>
                  <a:schemeClr val="bg1"/>
                </a:solidFill>
              </a:rPr>
              <a:t>Certain insights may require deeper airline industry expertise for full validation</a:t>
            </a:r>
          </a:p>
        </p:txBody>
      </p:sp>
    </p:spTree>
    <p:extLst>
      <p:ext uri="{BB962C8B-B14F-4D97-AF65-F5344CB8AC3E}">
        <p14:creationId xmlns:p14="http://schemas.microsoft.com/office/powerpoint/2010/main" val="2635423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23220"/>
          </a:xfrm>
          <a:prstGeom prst="rect">
            <a:avLst/>
          </a:prstGeom>
          <a:noFill/>
        </p:spPr>
        <p:txBody>
          <a:bodyPr wrap="square" rtlCol="0">
            <a:spAutoFit/>
          </a:bodyPr>
          <a:lstStyle/>
          <a:p>
            <a:pPr algn="ctr"/>
            <a:r>
              <a:rPr lang="en-US" sz="2800" b="1" dirty="0">
                <a:solidFill>
                  <a:schemeClr val="accent2"/>
                </a:solidFill>
              </a:rPr>
              <a:t>FUTURE SCOPE</a:t>
            </a:r>
            <a:endParaRPr lang="en-IN" sz="2800" dirty="0">
              <a:solidFill>
                <a:schemeClr val="accent2"/>
              </a:solidFill>
            </a:endParaRPr>
          </a:p>
        </p:txBody>
      </p:sp>
      <p:sp>
        <p:nvSpPr>
          <p:cNvPr id="4" name="TextBox 3"/>
          <p:cNvSpPr txBox="1"/>
          <p:nvPr/>
        </p:nvSpPr>
        <p:spPr>
          <a:xfrm>
            <a:off x="310392" y="1333850"/>
            <a:ext cx="9177557" cy="4739759"/>
          </a:xfrm>
          <a:prstGeom prst="rect">
            <a:avLst/>
          </a:prstGeom>
          <a:noFill/>
        </p:spPr>
        <p:txBody>
          <a:bodyPr wrap="square" rtlCol="0">
            <a:spAutoFit/>
          </a:bodyPr>
          <a:lstStyle/>
          <a:p>
            <a:r>
              <a:rPr lang="en-US" sz="3200" b="1" dirty="0">
                <a:solidFill>
                  <a:srgbClr val="FFFF00"/>
                </a:solidFill>
              </a:rPr>
              <a:t>Future Scope &amp; Project Extension</a:t>
            </a:r>
            <a:endParaRPr lang="en-US" sz="3200" b="1" dirty="0">
              <a:solidFill>
                <a:srgbClr val="C00000"/>
              </a:solidFill>
            </a:endParaRPr>
          </a:p>
          <a:p>
            <a:r>
              <a:rPr lang="en-US" b="1" dirty="0">
                <a:solidFill>
                  <a:srgbClr val="FFC000"/>
                </a:solidFill>
              </a:rPr>
              <a:t>Real-Time Data Integration</a:t>
            </a:r>
            <a:br>
              <a:rPr lang="en-US" dirty="0">
                <a:solidFill>
                  <a:srgbClr val="FFC000"/>
                </a:solidFill>
              </a:rPr>
            </a:br>
            <a:r>
              <a:rPr lang="en-US" dirty="0">
                <a:solidFill>
                  <a:schemeClr val="bg1"/>
                </a:solidFill>
              </a:rPr>
              <a:t>Enhance the project by integrating </a:t>
            </a:r>
            <a:r>
              <a:rPr lang="en-US" b="1" dirty="0">
                <a:solidFill>
                  <a:schemeClr val="bg1"/>
                </a:solidFill>
              </a:rPr>
              <a:t>live airfare data using APIs or streaming pipelines</a:t>
            </a:r>
            <a:r>
              <a:rPr lang="en-US" dirty="0">
                <a:solidFill>
                  <a:schemeClr val="bg1"/>
                </a:solidFill>
              </a:rPr>
              <a:t> for up-to-date analysis</a:t>
            </a:r>
          </a:p>
          <a:p>
            <a:r>
              <a:rPr lang="en-US" b="1" dirty="0">
                <a:solidFill>
                  <a:srgbClr val="FFC000"/>
                </a:solidFill>
              </a:rPr>
              <a:t>Advanced Machine Learning</a:t>
            </a:r>
            <a:br>
              <a:rPr lang="en-US" dirty="0">
                <a:solidFill>
                  <a:schemeClr val="bg1"/>
                </a:solidFill>
              </a:rPr>
            </a:br>
            <a:r>
              <a:rPr lang="en-US" dirty="0">
                <a:solidFill>
                  <a:schemeClr val="bg1"/>
                </a:solidFill>
              </a:rPr>
              <a:t>Apply advanced models such as </a:t>
            </a:r>
            <a:r>
              <a:rPr lang="en-US" b="1" dirty="0">
                <a:solidFill>
                  <a:schemeClr val="bg1"/>
                </a:solidFill>
              </a:rPr>
              <a:t>Random Forest, </a:t>
            </a:r>
            <a:r>
              <a:rPr lang="en-US" b="1" dirty="0" err="1">
                <a:solidFill>
                  <a:schemeClr val="bg1"/>
                </a:solidFill>
              </a:rPr>
              <a:t>XGBoost</a:t>
            </a:r>
            <a:r>
              <a:rPr lang="en-US" b="1" dirty="0">
                <a:solidFill>
                  <a:schemeClr val="bg1"/>
                </a:solidFill>
              </a:rPr>
              <a:t>, or Deep Learning</a:t>
            </a:r>
            <a:r>
              <a:rPr lang="en-US" dirty="0">
                <a:solidFill>
                  <a:schemeClr val="bg1"/>
                </a:solidFill>
              </a:rPr>
              <a:t> to improve prediction accuracy</a:t>
            </a:r>
          </a:p>
          <a:p>
            <a:r>
              <a:rPr lang="en-US" b="1" dirty="0">
                <a:solidFill>
                  <a:srgbClr val="FFC000"/>
                </a:solidFill>
              </a:rPr>
              <a:t>Expanded Dataset</a:t>
            </a:r>
            <a:br>
              <a:rPr lang="en-US" dirty="0">
                <a:solidFill>
                  <a:schemeClr val="bg1"/>
                </a:solidFill>
              </a:rPr>
            </a:br>
            <a:r>
              <a:rPr lang="en-US" dirty="0">
                <a:solidFill>
                  <a:schemeClr val="bg1"/>
                </a:solidFill>
              </a:rPr>
              <a:t>Include </a:t>
            </a:r>
            <a:r>
              <a:rPr lang="en-US" b="1" dirty="0">
                <a:solidFill>
                  <a:schemeClr val="bg1"/>
                </a:solidFill>
              </a:rPr>
              <a:t>more routes, airlines, and extended time periods</a:t>
            </a:r>
            <a:r>
              <a:rPr lang="en-US" dirty="0">
                <a:solidFill>
                  <a:schemeClr val="bg1"/>
                </a:solidFill>
              </a:rPr>
              <a:t> to improve the robustness of insights</a:t>
            </a:r>
          </a:p>
          <a:p>
            <a:r>
              <a:rPr lang="en-US" b="1" dirty="0">
                <a:solidFill>
                  <a:srgbClr val="FFC000"/>
                </a:solidFill>
              </a:rPr>
              <a:t>Web-Based Dashboard</a:t>
            </a:r>
            <a:br>
              <a:rPr lang="en-US" dirty="0">
                <a:solidFill>
                  <a:schemeClr val="bg1"/>
                </a:solidFill>
              </a:rPr>
            </a:br>
            <a:r>
              <a:rPr lang="en-US" dirty="0">
                <a:solidFill>
                  <a:schemeClr val="bg1"/>
                </a:solidFill>
              </a:rPr>
              <a:t>Develop a </a:t>
            </a:r>
            <a:r>
              <a:rPr lang="en-US" b="1" dirty="0">
                <a:solidFill>
                  <a:schemeClr val="bg1"/>
                </a:solidFill>
              </a:rPr>
              <a:t>fully interactive web dashboard</a:t>
            </a:r>
            <a:r>
              <a:rPr lang="en-US" dirty="0">
                <a:solidFill>
                  <a:schemeClr val="bg1"/>
                </a:solidFill>
              </a:rPr>
              <a:t> with real-time updates for better user experience</a:t>
            </a:r>
          </a:p>
          <a:p>
            <a:r>
              <a:rPr lang="en-US" b="1" dirty="0">
                <a:solidFill>
                  <a:srgbClr val="FFC000"/>
                </a:solidFill>
              </a:rPr>
              <a:t>NLP Integration</a:t>
            </a:r>
            <a:br>
              <a:rPr lang="en-US" dirty="0">
                <a:solidFill>
                  <a:schemeClr val="bg1"/>
                </a:solidFill>
              </a:rPr>
            </a:br>
            <a:r>
              <a:rPr lang="en-US" dirty="0">
                <a:solidFill>
                  <a:schemeClr val="bg1"/>
                </a:solidFill>
              </a:rPr>
              <a:t>Incorporate </a:t>
            </a:r>
            <a:r>
              <a:rPr lang="en-US" b="1" dirty="0">
                <a:solidFill>
                  <a:schemeClr val="bg1"/>
                </a:solidFill>
              </a:rPr>
              <a:t>text analysis (reviews/feedback)</a:t>
            </a:r>
            <a:r>
              <a:rPr lang="en-US" dirty="0">
                <a:solidFill>
                  <a:schemeClr val="bg1"/>
                </a:solidFill>
              </a:rPr>
              <a:t> using NLP to understand customer sentiment</a:t>
            </a:r>
          </a:p>
          <a:p>
            <a:r>
              <a:rPr lang="en-US" b="1" dirty="0">
                <a:solidFill>
                  <a:srgbClr val="FFC000"/>
                </a:solidFill>
              </a:rPr>
              <a:t>Enterprise Integration</a:t>
            </a:r>
            <a:br>
              <a:rPr lang="en-US" dirty="0">
                <a:solidFill>
                  <a:schemeClr val="bg1"/>
                </a:solidFill>
              </a:rPr>
            </a:br>
            <a:r>
              <a:rPr lang="en-US" dirty="0">
                <a:solidFill>
                  <a:schemeClr val="bg1"/>
                </a:solidFill>
              </a:rPr>
              <a:t>Connect with </a:t>
            </a:r>
            <a:r>
              <a:rPr lang="en-US" b="1" dirty="0">
                <a:solidFill>
                  <a:schemeClr val="bg1"/>
                </a:solidFill>
              </a:rPr>
              <a:t>BI tools (Power BI, Tableau)</a:t>
            </a:r>
            <a:r>
              <a:rPr lang="en-US" dirty="0">
                <a:solidFill>
                  <a:schemeClr val="bg1"/>
                </a:solidFill>
              </a:rPr>
              <a:t> for scalable, business-level reporting and decision-making</a:t>
            </a:r>
          </a:p>
        </p:txBody>
      </p:sp>
    </p:spTree>
    <p:extLst>
      <p:ext uri="{BB962C8B-B14F-4D97-AF65-F5344CB8AC3E}">
        <p14:creationId xmlns:p14="http://schemas.microsoft.com/office/powerpoint/2010/main" val="11220691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23220"/>
          </a:xfrm>
          <a:prstGeom prst="rect">
            <a:avLst/>
          </a:prstGeom>
          <a:noFill/>
        </p:spPr>
        <p:txBody>
          <a:bodyPr wrap="square" rtlCol="0">
            <a:spAutoFit/>
          </a:bodyPr>
          <a:lstStyle/>
          <a:p>
            <a:pPr algn="ctr"/>
            <a:r>
              <a:rPr lang="en-US" sz="2800" b="1" dirty="0">
                <a:solidFill>
                  <a:srgbClr val="FFC000"/>
                </a:solidFill>
              </a:rPr>
              <a:t>REFERENCES</a:t>
            </a:r>
            <a:endParaRPr lang="en-IN" sz="2800" dirty="0">
              <a:solidFill>
                <a:srgbClr val="FFC000"/>
              </a:solidFill>
            </a:endParaRPr>
          </a:p>
        </p:txBody>
      </p:sp>
      <p:sp>
        <p:nvSpPr>
          <p:cNvPr id="4" name="TextBox 3"/>
          <p:cNvSpPr txBox="1"/>
          <p:nvPr/>
        </p:nvSpPr>
        <p:spPr>
          <a:xfrm>
            <a:off x="310392" y="1333850"/>
            <a:ext cx="9177557" cy="4739759"/>
          </a:xfrm>
          <a:prstGeom prst="rect">
            <a:avLst/>
          </a:prstGeom>
          <a:noFill/>
        </p:spPr>
        <p:txBody>
          <a:bodyPr wrap="square" rtlCol="0">
            <a:spAutoFit/>
          </a:bodyPr>
          <a:lstStyle/>
          <a:p>
            <a:r>
              <a:rPr lang="en-IN" sz="3200" b="1" dirty="0">
                <a:solidFill>
                  <a:srgbClr val="FFC000"/>
                </a:solidFill>
              </a:rPr>
              <a:t>Sources &amp; Acknowledgements</a:t>
            </a:r>
          </a:p>
          <a:p>
            <a:r>
              <a:rPr lang="en-IN" sz="2000" b="1" dirty="0" err="1">
                <a:solidFill>
                  <a:schemeClr val="bg1"/>
                </a:solidFill>
              </a:rPr>
              <a:t>Kaggle</a:t>
            </a:r>
            <a:r>
              <a:rPr lang="en-IN" sz="2000" b="1" dirty="0">
                <a:solidFill>
                  <a:schemeClr val="bg1"/>
                </a:solidFill>
              </a:rPr>
              <a:t> Dataset</a:t>
            </a:r>
            <a:r>
              <a:rPr lang="en-IN" sz="2000" dirty="0">
                <a:solidFill>
                  <a:schemeClr val="bg1"/>
                </a:solidFill>
              </a:rPr>
              <a:t> (2024). </a:t>
            </a:r>
            <a:r>
              <a:rPr lang="en-IN" sz="2000" i="1" dirty="0">
                <a:solidFill>
                  <a:schemeClr val="bg1"/>
                </a:solidFill>
              </a:rPr>
              <a:t>Airfare Economy &amp; Business Class Dataset</a:t>
            </a:r>
            <a:r>
              <a:rPr lang="en-IN" sz="2000" dirty="0">
                <a:solidFill>
                  <a:schemeClr val="bg1"/>
                </a:solidFill>
              </a:rPr>
              <a:t>. Available at: </a:t>
            </a:r>
            <a:r>
              <a:rPr lang="en-IN" sz="2000" dirty="0">
                <a:solidFill>
                  <a:schemeClr val="bg1"/>
                </a:solidFill>
                <a:hlinkClick r:id="rId3"/>
              </a:rPr>
              <a:t>https://www.kaggle.com</a:t>
            </a:r>
            <a:r>
              <a:rPr lang="en-IN" sz="2000" dirty="0">
                <a:solidFill>
                  <a:schemeClr val="bg1"/>
                </a:solidFill>
              </a:rPr>
              <a:t> (Accessed: April 2026) </a:t>
            </a:r>
          </a:p>
          <a:p>
            <a:r>
              <a:rPr lang="en-IN" sz="2000" b="1" dirty="0">
                <a:solidFill>
                  <a:schemeClr val="bg1"/>
                </a:solidFill>
              </a:rPr>
              <a:t>Python Documentation</a:t>
            </a:r>
            <a:r>
              <a:rPr lang="en-IN" sz="2000" dirty="0">
                <a:solidFill>
                  <a:schemeClr val="bg1"/>
                </a:solidFill>
              </a:rPr>
              <a:t> (2024). </a:t>
            </a:r>
            <a:r>
              <a:rPr lang="en-IN" sz="2000" i="1" dirty="0">
                <a:solidFill>
                  <a:schemeClr val="bg1"/>
                </a:solidFill>
              </a:rPr>
              <a:t>Pandas Library</a:t>
            </a:r>
            <a:r>
              <a:rPr lang="en-IN" sz="2000" dirty="0">
                <a:solidFill>
                  <a:schemeClr val="bg1"/>
                </a:solidFill>
              </a:rPr>
              <a:t>. Available at: </a:t>
            </a:r>
            <a:r>
              <a:rPr lang="en-IN" sz="2000" dirty="0">
                <a:solidFill>
                  <a:schemeClr val="bg1"/>
                </a:solidFill>
                <a:hlinkClick r:id="rId4"/>
              </a:rPr>
              <a:t>https://pandas.pydata.org</a:t>
            </a:r>
            <a:r>
              <a:rPr lang="en-IN" sz="2000" dirty="0">
                <a:solidFill>
                  <a:schemeClr val="bg1"/>
                </a:solidFill>
              </a:rPr>
              <a:t> </a:t>
            </a:r>
          </a:p>
          <a:p>
            <a:r>
              <a:rPr lang="en-IN" sz="2000" b="1" dirty="0">
                <a:solidFill>
                  <a:srgbClr val="FFC000"/>
                </a:solidFill>
              </a:rPr>
              <a:t>Python Libraries</a:t>
            </a:r>
            <a:br>
              <a:rPr lang="en-IN" sz="2000" dirty="0">
                <a:solidFill>
                  <a:schemeClr val="bg1"/>
                </a:solidFill>
              </a:rPr>
            </a:br>
            <a:r>
              <a:rPr lang="en-IN" sz="2000" dirty="0" err="1">
                <a:solidFill>
                  <a:schemeClr val="bg1"/>
                </a:solidFill>
              </a:rPr>
              <a:t>NumPy</a:t>
            </a:r>
            <a:r>
              <a:rPr lang="en-IN" sz="2000" dirty="0">
                <a:solidFill>
                  <a:schemeClr val="bg1"/>
                </a:solidFill>
              </a:rPr>
              <a:t>, </a:t>
            </a:r>
            <a:r>
              <a:rPr lang="en-IN" sz="2000" dirty="0" err="1">
                <a:solidFill>
                  <a:schemeClr val="bg1"/>
                </a:solidFill>
              </a:rPr>
              <a:t>Matplotlib</a:t>
            </a:r>
            <a:r>
              <a:rPr lang="en-IN" sz="2000" dirty="0">
                <a:solidFill>
                  <a:schemeClr val="bg1"/>
                </a:solidFill>
              </a:rPr>
              <a:t>, </a:t>
            </a:r>
            <a:r>
              <a:rPr lang="en-IN" sz="2000" dirty="0" err="1">
                <a:solidFill>
                  <a:schemeClr val="bg1"/>
                </a:solidFill>
              </a:rPr>
              <a:t>Seaborn</a:t>
            </a:r>
            <a:r>
              <a:rPr lang="en-IN" sz="2000" dirty="0">
                <a:solidFill>
                  <a:schemeClr val="bg1"/>
                </a:solidFill>
              </a:rPr>
              <a:t>, </a:t>
            </a:r>
            <a:r>
              <a:rPr lang="en-IN" sz="2000" dirty="0" err="1">
                <a:solidFill>
                  <a:schemeClr val="bg1"/>
                </a:solidFill>
              </a:rPr>
              <a:t>Scikit</a:t>
            </a:r>
            <a:r>
              <a:rPr lang="en-IN" sz="2000" dirty="0">
                <a:solidFill>
                  <a:schemeClr val="bg1"/>
                </a:solidFill>
              </a:rPr>
              <a:t>-learn – Official documentation used for analysis and visualization </a:t>
            </a:r>
          </a:p>
          <a:p>
            <a:r>
              <a:rPr lang="en-IN" sz="2000" b="1" dirty="0">
                <a:solidFill>
                  <a:srgbClr val="FFC000"/>
                </a:solidFill>
              </a:rPr>
              <a:t>Learning Resources</a:t>
            </a:r>
            <a:br>
              <a:rPr lang="en-IN" sz="2000" dirty="0">
                <a:solidFill>
                  <a:schemeClr val="bg1"/>
                </a:solidFill>
              </a:rPr>
            </a:br>
            <a:r>
              <a:rPr lang="en-IN" sz="2000" dirty="0">
                <a:solidFill>
                  <a:schemeClr val="bg1"/>
                </a:solidFill>
              </a:rPr>
              <a:t>Online courses and tutorials on Data Analytics, SQL, and Python programming </a:t>
            </a:r>
          </a:p>
          <a:p>
            <a:r>
              <a:rPr lang="en-IN" sz="2000" b="1" dirty="0">
                <a:solidFill>
                  <a:schemeClr val="bg1"/>
                </a:solidFill>
              </a:rPr>
              <a:t>Tools &amp; Platforms</a:t>
            </a:r>
            <a:br>
              <a:rPr lang="en-IN" sz="2000" dirty="0">
                <a:solidFill>
                  <a:schemeClr val="bg1"/>
                </a:solidFill>
              </a:rPr>
            </a:br>
            <a:r>
              <a:rPr lang="en-IN" sz="2000" dirty="0" err="1">
                <a:solidFill>
                  <a:schemeClr val="bg1"/>
                </a:solidFill>
              </a:rPr>
              <a:t>Jupyter</a:t>
            </a:r>
            <a:r>
              <a:rPr lang="en-IN" sz="2000" dirty="0">
                <a:solidFill>
                  <a:schemeClr val="bg1"/>
                </a:solidFill>
              </a:rPr>
              <a:t> Notebook, MySQL / </a:t>
            </a:r>
            <a:r>
              <a:rPr lang="en-IN" sz="2000" dirty="0" err="1">
                <a:solidFill>
                  <a:schemeClr val="bg1"/>
                </a:solidFill>
              </a:rPr>
              <a:t>PostgreSQL</a:t>
            </a:r>
            <a:r>
              <a:rPr lang="en-IN" sz="2000" dirty="0">
                <a:solidFill>
                  <a:schemeClr val="bg1"/>
                </a:solidFill>
              </a:rPr>
              <a:t> for data processing and analysis</a:t>
            </a:r>
          </a:p>
          <a:p>
            <a:r>
              <a:rPr lang="en-IN" sz="2000" dirty="0">
                <a:solidFill>
                  <a:schemeClr val="bg1"/>
                </a:solidFill>
              </a:rPr>
              <a:t> </a:t>
            </a:r>
          </a:p>
          <a:p>
            <a:r>
              <a:rPr lang="en-IN" sz="3200" b="1" dirty="0">
                <a:solidFill>
                  <a:srgbClr val="FFC000"/>
                </a:solidFill>
              </a:rPr>
              <a:t>Acknowledgement</a:t>
            </a:r>
            <a:br>
              <a:rPr lang="en-IN" sz="3200" dirty="0">
                <a:solidFill>
                  <a:schemeClr val="bg1"/>
                </a:solidFill>
              </a:rPr>
            </a:br>
            <a:r>
              <a:rPr lang="en-IN" sz="2000" dirty="0">
                <a:solidFill>
                  <a:schemeClr val="bg1"/>
                </a:solidFill>
              </a:rPr>
              <a:t>I would like to thank my mentors for her guidance and support throughout this project</a:t>
            </a:r>
            <a:r>
              <a:rPr lang="en-IN" sz="2000" dirty="0"/>
              <a:t>.</a:t>
            </a:r>
          </a:p>
        </p:txBody>
      </p:sp>
    </p:spTree>
    <p:extLst>
      <p:ext uri="{BB962C8B-B14F-4D97-AF65-F5344CB8AC3E}">
        <p14:creationId xmlns:p14="http://schemas.microsoft.com/office/powerpoint/2010/main" val="1128160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TextBox 2"/>
          <p:cNvSpPr txBox="1"/>
          <p:nvPr/>
        </p:nvSpPr>
        <p:spPr>
          <a:xfrm>
            <a:off x="234891" y="377505"/>
            <a:ext cx="11182525" cy="584775"/>
          </a:xfrm>
          <a:prstGeom prst="rect">
            <a:avLst/>
          </a:prstGeom>
          <a:noFill/>
        </p:spPr>
        <p:txBody>
          <a:bodyPr wrap="square" rtlCol="0">
            <a:spAutoFit/>
          </a:bodyPr>
          <a:lstStyle/>
          <a:p>
            <a:pPr algn="ctr"/>
            <a:r>
              <a:rPr lang="en-US" sz="3200" b="1" dirty="0">
                <a:solidFill>
                  <a:srgbClr val="FFC000"/>
                </a:solidFill>
              </a:rPr>
              <a:t>THANK YOU</a:t>
            </a:r>
            <a:endParaRPr lang="en-IN" sz="3200" b="1" dirty="0">
              <a:solidFill>
                <a:srgbClr val="FFC000"/>
              </a:solidFill>
            </a:endParaRPr>
          </a:p>
        </p:txBody>
      </p:sp>
      <p:sp>
        <p:nvSpPr>
          <p:cNvPr id="4" name="TextBox 3"/>
          <p:cNvSpPr txBox="1"/>
          <p:nvPr/>
        </p:nvSpPr>
        <p:spPr>
          <a:xfrm>
            <a:off x="310392" y="1333850"/>
            <a:ext cx="9873843" cy="4031873"/>
          </a:xfrm>
          <a:prstGeom prst="rect">
            <a:avLst/>
          </a:prstGeom>
          <a:noFill/>
        </p:spPr>
        <p:txBody>
          <a:bodyPr wrap="square" rtlCol="0">
            <a:spAutoFit/>
          </a:bodyPr>
          <a:lstStyle/>
          <a:p>
            <a:r>
              <a:rPr lang="en-US" sz="3200" b="1" dirty="0">
                <a:solidFill>
                  <a:srgbClr val="FFC000"/>
                </a:solidFill>
              </a:rPr>
              <a:t>Questions &amp; Feedback Welcome</a:t>
            </a:r>
          </a:p>
          <a:p>
            <a:r>
              <a:rPr lang="en-US" sz="3200" dirty="0">
                <a:solidFill>
                  <a:srgbClr val="FFFF00"/>
                </a:solidFill>
              </a:rPr>
              <a:t>Student: </a:t>
            </a:r>
            <a:r>
              <a:rPr lang="en-US" sz="3200" dirty="0" err="1">
                <a:solidFill>
                  <a:schemeClr val="bg1"/>
                </a:solidFill>
              </a:rPr>
              <a:t>Kruthika</a:t>
            </a:r>
            <a:r>
              <a:rPr lang="en-US" sz="3200" dirty="0">
                <a:solidFill>
                  <a:schemeClr val="bg1"/>
                </a:solidFill>
              </a:rPr>
              <a:t> S R, M </a:t>
            </a:r>
            <a:r>
              <a:rPr lang="en-US" sz="3200" dirty="0" err="1">
                <a:solidFill>
                  <a:schemeClr val="bg1"/>
                </a:solidFill>
              </a:rPr>
              <a:t>Chaitra</a:t>
            </a:r>
            <a:r>
              <a:rPr lang="en-US" sz="3200" dirty="0">
                <a:solidFill>
                  <a:schemeClr val="bg1"/>
                </a:solidFill>
              </a:rPr>
              <a:t> |  </a:t>
            </a:r>
            <a:r>
              <a:rPr lang="en-US" sz="3200" dirty="0" err="1">
                <a:solidFill>
                  <a:schemeClr val="bg1"/>
                </a:solidFill>
              </a:rPr>
              <a:t>AFid</a:t>
            </a:r>
            <a:r>
              <a:rPr lang="en-US" sz="3200" dirty="0">
                <a:solidFill>
                  <a:schemeClr val="bg1"/>
                </a:solidFill>
              </a:rPr>
              <a:t>: AF05060907, AF05096869</a:t>
            </a:r>
          </a:p>
          <a:p>
            <a:r>
              <a:rPr lang="en-US" sz="3200" dirty="0">
                <a:solidFill>
                  <a:srgbClr val="FFFF00"/>
                </a:solidFill>
              </a:rPr>
              <a:t>Email: </a:t>
            </a:r>
            <a:r>
              <a:rPr lang="en-US" sz="3200" dirty="0">
                <a:solidFill>
                  <a:schemeClr val="bg1"/>
                </a:solidFill>
              </a:rPr>
              <a:t>kruthikasr85@gmail.com</a:t>
            </a:r>
          </a:p>
          <a:p>
            <a:r>
              <a:rPr lang="en-US" sz="3200" dirty="0">
                <a:solidFill>
                  <a:srgbClr val="FFFF00"/>
                </a:solidFill>
              </a:rPr>
              <a:t>GitHub / Portfolio: https://github.com/Chaitra214/davis_project/upload</a:t>
            </a:r>
            <a:endParaRPr lang="en-US" sz="3200" dirty="0">
              <a:solidFill>
                <a:schemeClr val="bg1"/>
              </a:solidFill>
            </a:endParaRPr>
          </a:p>
          <a:p>
            <a:r>
              <a:rPr lang="en-US" sz="3200" dirty="0">
                <a:solidFill>
                  <a:srgbClr val="FFFF00"/>
                </a:solidFill>
              </a:rPr>
              <a:t>Guide / Mentor: </a:t>
            </a:r>
            <a:r>
              <a:rPr lang="en-IN" sz="3200" dirty="0" err="1">
                <a:solidFill>
                  <a:schemeClr val="bg1"/>
                </a:solidFill>
              </a:rPr>
              <a:t>Shruti</a:t>
            </a:r>
            <a:r>
              <a:rPr lang="en-IN" sz="3200" dirty="0">
                <a:solidFill>
                  <a:schemeClr val="bg1"/>
                </a:solidFill>
              </a:rPr>
              <a:t> </a:t>
            </a:r>
            <a:r>
              <a:rPr lang="en-IN" sz="3200" dirty="0" err="1">
                <a:solidFill>
                  <a:schemeClr val="bg1"/>
                </a:solidFill>
              </a:rPr>
              <a:t>Sengupta</a:t>
            </a:r>
            <a:r>
              <a:rPr lang="en-US" sz="3200" dirty="0">
                <a:solidFill>
                  <a:schemeClr val="bg1"/>
                </a:solidFill>
              </a:rPr>
              <a:t>, </a:t>
            </a:r>
            <a:r>
              <a:rPr lang="en-US" sz="3200" dirty="0" err="1">
                <a:solidFill>
                  <a:schemeClr val="bg1"/>
                </a:solidFill>
              </a:rPr>
              <a:t>Anudip</a:t>
            </a:r>
            <a:r>
              <a:rPr lang="en-US" sz="3200" dirty="0">
                <a:solidFill>
                  <a:schemeClr val="bg1"/>
                </a:solidFill>
              </a:rPr>
              <a:t> Foundation</a:t>
            </a:r>
          </a:p>
          <a:p>
            <a:r>
              <a:rPr lang="en-US" sz="3200" dirty="0">
                <a:solidFill>
                  <a:schemeClr val="bg1"/>
                </a:solidFill>
              </a:rPr>
              <a:t>Department of ISE,CSE, </a:t>
            </a:r>
            <a:r>
              <a:rPr lang="en-US" sz="3200" dirty="0" err="1">
                <a:solidFill>
                  <a:schemeClr val="bg1"/>
                </a:solidFill>
              </a:rPr>
              <a:t>Sai</a:t>
            </a:r>
            <a:r>
              <a:rPr lang="en-US" sz="3200" dirty="0">
                <a:solidFill>
                  <a:schemeClr val="bg1"/>
                </a:solidFill>
              </a:rPr>
              <a:t> </a:t>
            </a:r>
            <a:r>
              <a:rPr lang="en-US" sz="3200" dirty="0" err="1">
                <a:solidFill>
                  <a:schemeClr val="bg1"/>
                </a:solidFill>
              </a:rPr>
              <a:t>Vidya</a:t>
            </a:r>
            <a:r>
              <a:rPr lang="en-US" sz="3200" dirty="0">
                <a:solidFill>
                  <a:schemeClr val="bg1"/>
                </a:solidFill>
              </a:rPr>
              <a:t> Institute of Technology</a:t>
            </a:r>
          </a:p>
        </p:txBody>
      </p:sp>
    </p:spTree>
    <p:extLst>
      <p:ext uri="{BB962C8B-B14F-4D97-AF65-F5344CB8AC3E}">
        <p14:creationId xmlns:p14="http://schemas.microsoft.com/office/powerpoint/2010/main" val="213055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C8AA2-693A-45AF-9574-298F65A36190}"/>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2546AC20-7317-44EC-9A3A-4BEEE8BADD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2000" cy="6858000"/>
          </a:xfrm>
        </p:spPr>
      </p:pic>
      <p:sp>
        <p:nvSpPr>
          <p:cNvPr id="6" name="TextBox 5">
            <a:extLst>
              <a:ext uri="{FF2B5EF4-FFF2-40B4-BE49-F238E27FC236}">
                <a16:creationId xmlns:a16="http://schemas.microsoft.com/office/drawing/2014/main" id="{12AC0F62-8424-45E6-85BB-B3BB4BAC6840}"/>
              </a:ext>
            </a:extLst>
          </p:cNvPr>
          <p:cNvSpPr txBox="1"/>
          <p:nvPr/>
        </p:nvSpPr>
        <p:spPr>
          <a:xfrm>
            <a:off x="-92278" y="1384183"/>
            <a:ext cx="12192000" cy="3631763"/>
          </a:xfrm>
          <a:prstGeom prst="rect">
            <a:avLst/>
          </a:prstGeom>
          <a:noFill/>
        </p:spPr>
        <p:txBody>
          <a:bodyPr wrap="square" rtlCol="0">
            <a:spAutoFit/>
          </a:bodyPr>
          <a:lstStyle/>
          <a:p>
            <a:pPr algn="ctr"/>
            <a:r>
              <a:rPr lang="en-US" sz="11500" b="1" dirty="0">
                <a:solidFill>
                  <a:schemeClr val="bg1"/>
                </a:solidFill>
              </a:rPr>
              <a:t>THANK</a:t>
            </a:r>
          </a:p>
          <a:p>
            <a:pPr algn="ctr"/>
            <a:r>
              <a:rPr lang="en-US" sz="11500" b="1" dirty="0">
                <a:solidFill>
                  <a:schemeClr val="bg1"/>
                </a:solidFill>
              </a:rPr>
              <a:t>YOU</a:t>
            </a:r>
          </a:p>
        </p:txBody>
      </p:sp>
      <p:sp>
        <p:nvSpPr>
          <p:cNvPr id="7" name="AutoShape 2" descr="blob:https://web.whatsapp.com/c4d5921e-7735-4a4e-95da-0e262fe6a3e0">
            <a:extLst>
              <a:ext uri="{FF2B5EF4-FFF2-40B4-BE49-F238E27FC236}">
                <a16:creationId xmlns:a16="http://schemas.microsoft.com/office/drawing/2014/main" id="{3B09BBBF-0C01-4C74-9761-A46B49D46D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956465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TotalTime>
  <Words>2650</Words>
  <Application>Microsoft Office PowerPoint</Application>
  <PresentationFormat>Widescreen</PresentationFormat>
  <Paragraphs>321</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Algerian</vt: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PC</cp:lastModifiedBy>
  <cp:revision>45</cp:revision>
  <dcterms:created xsi:type="dcterms:W3CDTF">2026-04-09T09:58:37Z</dcterms:created>
  <dcterms:modified xsi:type="dcterms:W3CDTF">2026-05-02T16:55:52Z</dcterms:modified>
</cp:coreProperties>
</file>